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45"/>
  </p:notesMasterIdLst>
  <p:sldIdLst>
    <p:sldId id="2186" r:id="rId2"/>
    <p:sldId id="2240" r:id="rId3"/>
    <p:sldId id="2241" r:id="rId4"/>
    <p:sldId id="2301" r:id="rId5"/>
    <p:sldId id="2302" r:id="rId6"/>
    <p:sldId id="2303" r:id="rId7"/>
    <p:sldId id="2292" r:id="rId8"/>
    <p:sldId id="2297" r:id="rId9"/>
    <p:sldId id="2296" r:id="rId10"/>
    <p:sldId id="2298" r:id="rId11"/>
    <p:sldId id="2299" r:id="rId12"/>
    <p:sldId id="2300" r:id="rId13"/>
    <p:sldId id="2253" r:id="rId14"/>
    <p:sldId id="2254" r:id="rId15"/>
    <p:sldId id="2267" r:id="rId16"/>
    <p:sldId id="2281" r:id="rId17"/>
    <p:sldId id="2285" r:id="rId18"/>
    <p:sldId id="2286" r:id="rId19"/>
    <p:sldId id="2288" r:id="rId20"/>
    <p:sldId id="2256" r:id="rId21"/>
    <p:sldId id="2266" r:id="rId22"/>
    <p:sldId id="2269" r:id="rId23"/>
    <p:sldId id="2279" r:id="rId24"/>
    <p:sldId id="2234" r:id="rId25"/>
    <p:sldId id="2249" r:id="rId26"/>
    <p:sldId id="2251" r:id="rId27"/>
    <p:sldId id="2270" r:id="rId28"/>
    <p:sldId id="2273" r:id="rId29"/>
    <p:sldId id="2275" r:id="rId30"/>
    <p:sldId id="2280" r:id="rId31"/>
    <p:sldId id="2278" r:id="rId32"/>
    <p:sldId id="670" r:id="rId33"/>
    <p:sldId id="2259" r:id="rId34"/>
    <p:sldId id="1430" r:id="rId35"/>
    <p:sldId id="2261" r:id="rId36"/>
    <p:sldId id="2262" r:id="rId37"/>
    <p:sldId id="2263" r:id="rId38"/>
    <p:sldId id="2264" r:id="rId39"/>
    <p:sldId id="2239" r:id="rId40"/>
    <p:sldId id="2272" r:id="rId41"/>
    <p:sldId id="2276" r:id="rId42"/>
    <p:sldId id="2277" r:id="rId43"/>
    <p:sldId id="538" r:id="rId4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03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555AA3C4-96C1-45BF-A12B-AF8E090BFDFB}" type="datetimeFigureOut">
              <a:rPr lang="he-IL" smtClean="0"/>
              <a:t>ח'/חשון/תשפ"ז</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43BDA68-3CF6-41ED-AD9E-86FCBF0930E1}" type="slidenum">
              <a:rPr lang="he-IL" smtClean="0"/>
              <a:t>‹#›</a:t>
            </a:fld>
            <a:endParaRPr lang="he-IL"/>
          </a:p>
        </p:txBody>
      </p:sp>
    </p:spTree>
    <p:extLst>
      <p:ext uri="{BB962C8B-B14F-4D97-AF65-F5344CB8AC3E}">
        <p14:creationId xmlns:p14="http://schemas.microsoft.com/office/powerpoint/2010/main" val="363399079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543BDA68-3CF6-41ED-AD9E-86FCBF0930E1}" type="slidenum">
              <a:rPr lang="he-IL" smtClean="0"/>
              <a:t>29</a:t>
            </a:fld>
            <a:endParaRPr lang="he-IL"/>
          </a:p>
        </p:txBody>
      </p:sp>
    </p:spTree>
    <p:extLst>
      <p:ext uri="{BB962C8B-B14F-4D97-AF65-F5344CB8AC3E}">
        <p14:creationId xmlns:p14="http://schemas.microsoft.com/office/powerpoint/2010/main" val="4218464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FC1C75BE-C1C7-9DC9-1247-F25CDB572401}"/>
              </a:ext>
            </a:extLst>
          </p:cNvPr>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r" rtl="1">
              <a:spcBef>
                <a:spcPct val="30000"/>
              </a:spcBef>
              <a:defRPr sz="1200">
                <a:solidFill>
                  <a:schemeClr val="tx1"/>
                </a:solidFill>
                <a:latin typeface="Calibri" panose="020F0502020204030204" pitchFamily="34" charset="0"/>
                <a:cs typeface="Arial" panose="020B0604020202020204" pitchFamily="34" charset="0"/>
              </a:defRPr>
            </a:lvl1pPr>
            <a:lvl2pPr marL="742950" indent="-285750" algn="r" rtl="1">
              <a:spcBef>
                <a:spcPct val="30000"/>
              </a:spcBef>
              <a:defRPr sz="1200">
                <a:solidFill>
                  <a:schemeClr val="tx1"/>
                </a:solidFill>
                <a:latin typeface="Calibri" panose="020F0502020204030204" pitchFamily="34" charset="0"/>
                <a:cs typeface="Arial" panose="020B0604020202020204" pitchFamily="34" charset="0"/>
              </a:defRPr>
            </a:lvl2pPr>
            <a:lvl3pPr marL="1143000" indent="-228600" algn="r" rtl="1">
              <a:spcBef>
                <a:spcPct val="30000"/>
              </a:spcBef>
              <a:defRPr sz="1200">
                <a:solidFill>
                  <a:schemeClr val="tx1"/>
                </a:solidFill>
                <a:latin typeface="Calibri" panose="020F0502020204030204" pitchFamily="34" charset="0"/>
                <a:cs typeface="Arial" panose="020B0604020202020204" pitchFamily="34" charset="0"/>
              </a:defRPr>
            </a:lvl3pPr>
            <a:lvl4pPr marL="1600200" indent="-228600" algn="r" rtl="1">
              <a:spcBef>
                <a:spcPct val="30000"/>
              </a:spcBef>
              <a:defRPr sz="1200">
                <a:solidFill>
                  <a:schemeClr val="tx1"/>
                </a:solidFill>
                <a:latin typeface="Calibri" panose="020F0502020204030204" pitchFamily="34" charset="0"/>
                <a:cs typeface="Arial" panose="020B0604020202020204" pitchFamily="34" charset="0"/>
              </a:defRPr>
            </a:lvl4pPr>
            <a:lvl5pPr marL="2057400" indent="-228600" algn="r" rtl="1">
              <a:spcBef>
                <a:spcPct val="30000"/>
              </a:spcBef>
              <a:defRPr sz="12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9pPr>
          </a:lstStyle>
          <a:p>
            <a:pPr algn="l" rtl="0" eaLnBrk="1" hangingPunct="1">
              <a:spcBef>
                <a:spcPct val="0"/>
              </a:spcBef>
            </a:pPr>
            <a:fld id="{B2B5ECE9-7B35-457A-B9BD-FFA8ED744913}" type="slidenum">
              <a:rPr lang="he-IL" altLang="he-IL">
                <a:latin typeface="Arial" panose="020B0604020202020204" pitchFamily="34" charset="0"/>
              </a:rPr>
              <a:pPr algn="l" rtl="0" eaLnBrk="1" hangingPunct="1">
                <a:spcBef>
                  <a:spcPct val="0"/>
                </a:spcBef>
              </a:pPr>
              <a:t>43</a:t>
            </a:fld>
            <a:endParaRPr lang="en-US" altLang="he-IL">
              <a:latin typeface="Arial" panose="020B0604020202020204" pitchFamily="34" charset="0"/>
            </a:endParaRPr>
          </a:p>
        </p:txBody>
      </p:sp>
      <p:sp>
        <p:nvSpPr>
          <p:cNvPr id="154627" name="Rectangle 7">
            <a:extLst>
              <a:ext uri="{FF2B5EF4-FFF2-40B4-BE49-F238E27FC236}">
                <a16:creationId xmlns:a16="http://schemas.microsoft.com/office/drawing/2014/main" id="{DCB849AE-D3AC-35FE-A383-C09451ACAED8}"/>
              </a:ext>
            </a:extLst>
          </p:cNvPr>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r" rtl="1">
              <a:spcBef>
                <a:spcPct val="30000"/>
              </a:spcBef>
              <a:defRPr sz="1200">
                <a:solidFill>
                  <a:schemeClr val="tx1"/>
                </a:solidFill>
                <a:latin typeface="Calibri" panose="020F0502020204030204" pitchFamily="34" charset="0"/>
                <a:cs typeface="Arial" panose="020B0604020202020204" pitchFamily="34" charset="0"/>
              </a:defRPr>
            </a:lvl1pPr>
            <a:lvl2pPr marL="742950" indent="-285750" algn="r" rtl="1">
              <a:spcBef>
                <a:spcPct val="30000"/>
              </a:spcBef>
              <a:defRPr sz="1200">
                <a:solidFill>
                  <a:schemeClr val="tx1"/>
                </a:solidFill>
                <a:latin typeface="Calibri" panose="020F0502020204030204" pitchFamily="34" charset="0"/>
                <a:cs typeface="Arial" panose="020B0604020202020204" pitchFamily="34" charset="0"/>
              </a:defRPr>
            </a:lvl2pPr>
            <a:lvl3pPr marL="1143000" indent="-228600" algn="r" rtl="1">
              <a:spcBef>
                <a:spcPct val="30000"/>
              </a:spcBef>
              <a:defRPr sz="1200">
                <a:solidFill>
                  <a:schemeClr val="tx1"/>
                </a:solidFill>
                <a:latin typeface="Calibri" panose="020F0502020204030204" pitchFamily="34" charset="0"/>
                <a:cs typeface="Arial" panose="020B0604020202020204" pitchFamily="34" charset="0"/>
              </a:defRPr>
            </a:lvl3pPr>
            <a:lvl4pPr marL="1600200" indent="-228600" algn="r" rtl="1">
              <a:spcBef>
                <a:spcPct val="30000"/>
              </a:spcBef>
              <a:defRPr sz="1200">
                <a:solidFill>
                  <a:schemeClr val="tx1"/>
                </a:solidFill>
                <a:latin typeface="Calibri" panose="020F0502020204030204" pitchFamily="34" charset="0"/>
                <a:cs typeface="Arial" panose="020B0604020202020204" pitchFamily="34" charset="0"/>
              </a:defRPr>
            </a:lvl4pPr>
            <a:lvl5pPr marL="2057400" indent="-228600" algn="r" rtl="1">
              <a:spcBef>
                <a:spcPct val="30000"/>
              </a:spcBef>
              <a:defRPr sz="12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9pPr>
          </a:lstStyle>
          <a:p>
            <a:pPr algn="l" rtl="0" eaLnBrk="1" hangingPunct="1">
              <a:spcBef>
                <a:spcPct val="0"/>
              </a:spcBef>
            </a:pPr>
            <a:fld id="{48A18EA6-6ED5-41A8-A36F-C8414F9B06B3}" type="slidenum">
              <a:rPr lang="he-IL" altLang="he-IL">
                <a:latin typeface="Arial" panose="020B0604020202020204" pitchFamily="34" charset="0"/>
              </a:rPr>
              <a:pPr algn="l" rtl="0" eaLnBrk="1" hangingPunct="1">
                <a:spcBef>
                  <a:spcPct val="0"/>
                </a:spcBef>
              </a:pPr>
              <a:t>43</a:t>
            </a:fld>
            <a:endParaRPr lang="en-US" altLang="he-IL">
              <a:latin typeface="Arial" panose="020B0604020202020204" pitchFamily="34" charset="0"/>
            </a:endParaRPr>
          </a:p>
        </p:txBody>
      </p:sp>
      <p:sp>
        <p:nvSpPr>
          <p:cNvPr id="154628" name="Rectangle 7">
            <a:extLst>
              <a:ext uri="{FF2B5EF4-FFF2-40B4-BE49-F238E27FC236}">
                <a16:creationId xmlns:a16="http://schemas.microsoft.com/office/drawing/2014/main" id="{4EBDCD77-6EB2-B627-0DD6-8A6DA421F4CD}"/>
              </a:ext>
            </a:extLst>
          </p:cNvPr>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r" rtl="1">
              <a:spcBef>
                <a:spcPct val="30000"/>
              </a:spcBef>
              <a:defRPr sz="1200">
                <a:solidFill>
                  <a:schemeClr val="tx1"/>
                </a:solidFill>
                <a:latin typeface="Calibri" panose="020F0502020204030204" pitchFamily="34" charset="0"/>
                <a:cs typeface="Arial" panose="020B0604020202020204" pitchFamily="34" charset="0"/>
              </a:defRPr>
            </a:lvl1pPr>
            <a:lvl2pPr marL="742950" indent="-285750" algn="r" rtl="1">
              <a:spcBef>
                <a:spcPct val="30000"/>
              </a:spcBef>
              <a:defRPr sz="1200">
                <a:solidFill>
                  <a:schemeClr val="tx1"/>
                </a:solidFill>
                <a:latin typeface="Calibri" panose="020F0502020204030204" pitchFamily="34" charset="0"/>
                <a:cs typeface="Arial" panose="020B0604020202020204" pitchFamily="34" charset="0"/>
              </a:defRPr>
            </a:lvl2pPr>
            <a:lvl3pPr marL="1143000" indent="-228600" algn="r" rtl="1">
              <a:spcBef>
                <a:spcPct val="30000"/>
              </a:spcBef>
              <a:defRPr sz="1200">
                <a:solidFill>
                  <a:schemeClr val="tx1"/>
                </a:solidFill>
                <a:latin typeface="Calibri" panose="020F0502020204030204" pitchFamily="34" charset="0"/>
                <a:cs typeface="Arial" panose="020B0604020202020204" pitchFamily="34" charset="0"/>
              </a:defRPr>
            </a:lvl3pPr>
            <a:lvl4pPr marL="1600200" indent="-228600" algn="r" rtl="1">
              <a:spcBef>
                <a:spcPct val="30000"/>
              </a:spcBef>
              <a:defRPr sz="1200">
                <a:solidFill>
                  <a:schemeClr val="tx1"/>
                </a:solidFill>
                <a:latin typeface="Calibri" panose="020F0502020204030204" pitchFamily="34" charset="0"/>
                <a:cs typeface="Arial" panose="020B0604020202020204" pitchFamily="34" charset="0"/>
              </a:defRPr>
            </a:lvl4pPr>
            <a:lvl5pPr marL="2057400" indent="-228600" algn="r" rtl="1">
              <a:spcBef>
                <a:spcPct val="30000"/>
              </a:spcBef>
              <a:defRPr sz="12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cs typeface="Arial" panose="020B0604020202020204" pitchFamily="34" charset="0"/>
              </a:defRPr>
            </a:lvl9pPr>
          </a:lstStyle>
          <a:p>
            <a:pPr algn="l" rtl="0" eaLnBrk="1" hangingPunct="1">
              <a:spcBef>
                <a:spcPct val="0"/>
              </a:spcBef>
            </a:pPr>
            <a:fld id="{28C66EB4-01B5-4500-8DA8-92EED1E090D0}" type="slidenum">
              <a:rPr lang="he-IL" altLang="he-IL">
                <a:latin typeface="Arial" panose="020B0604020202020204" pitchFamily="34" charset="0"/>
              </a:rPr>
              <a:pPr algn="l" rtl="0" eaLnBrk="1" hangingPunct="1">
                <a:spcBef>
                  <a:spcPct val="0"/>
                </a:spcBef>
              </a:pPr>
              <a:t>43</a:t>
            </a:fld>
            <a:endParaRPr lang="en-US" altLang="he-IL">
              <a:latin typeface="Arial" panose="020B0604020202020204" pitchFamily="34" charset="0"/>
            </a:endParaRPr>
          </a:p>
        </p:txBody>
      </p:sp>
      <p:sp>
        <p:nvSpPr>
          <p:cNvPr id="154629" name="Rectangle 2">
            <a:extLst>
              <a:ext uri="{FF2B5EF4-FFF2-40B4-BE49-F238E27FC236}">
                <a16:creationId xmlns:a16="http://schemas.microsoft.com/office/drawing/2014/main" id="{F677A75D-F1B7-C443-AF60-15B61CCAF4B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30" name="Rectangle 3">
            <a:extLst>
              <a:ext uri="{FF2B5EF4-FFF2-40B4-BE49-F238E27FC236}">
                <a16:creationId xmlns:a16="http://schemas.microsoft.com/office/drawing/2014/main" id="{8299027E-2BC3-7E0F-CBF6-8E822A80385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he-IL" altLang="he-IL"/>
              <a:t>הילד</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D89C9CE-0808-166F-BF6B-E85758BD7EE6}"/>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7E279820-FCD7-049A-97F4-E59660A2CF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25CD423D-662B-9517-7E01-6A11AC5621AF}"/>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5" name="מציין מיקום של כותרת תחתונה 4">
            <a:extLst>
              <a:ext uri="{FF2B5EF4-FFF2-40B4-BE49-F238E27FC236}">
                <a16:creationId xmlns:a16="http://schemas.microsoft.com/office/drawing/2014/main" id="{594249C8-E975-9551-C532-1AD3A4F92A4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D139A67E-2CAC-C0A4-8AA0-4DDD4FDB91EF}"/>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3561195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DDEF256-6E57-4482-1D89-F89B91CCCD4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2176FFF-AA71-9558-02B3-A3E16D8FF758}"/>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77F29546-66DC-A902-81A4-606C26D9B7E9}"/>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5" name="מציין מיקום של כותרת תחתונה 4">
            <a:extLst>
              <a:ext uri="{FF2B5EF4-FFF2-40B4-BE49-F238E27FC236}">
                <a16:creationId xmlns:a16="http://schemas.microsoft.com/office/drawing/2014/main" id="{0653ED22-B404-8D36-D167-906E893A5CF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9E3DC60-5B9A-6C44-5CB3-6F04DE1A2D3C}"/>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2571457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C1F4C5C-26E6-A19F-6805-D611552EFB18}"/>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F3BEBBB-4833-930B-32B4-D4EA60790B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F4C125BB-D762-C25F-ADDB-F89377414A0D}"/>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5" name="מציין מיקום של כותרת תחתונה 4">
            <a:extLst>
              <a:ext uri="{FF2B5EF4-FFF2-40B4-BE49-F238E27FC236}">
                <a16:creationId xmlns:a16="http://schemas.microsoft.com/office/drawing/2014/main" id="{963680BD-6F60-1E8A-36FF-426CFEFBB48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0DE8F17D-BADF-2B8A-DDE0-D44DDD56634C}"/>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3743707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95C386C-BAA7-8D09-9BAD-F7FEC9DC67D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D888B76-B0E3-0F48-5EF7-FA40E021F761}"/>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7CAD0C56-5600-C64E-6826-D64CEB731975}"/>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79242333-9D6A-7FB7-AF9D-4373E87D800F}"/>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6" name="מציין מיקום של כותרת תחתונה 5">
            <a:extLst>
              <a:ext uri="{FF2B5EF4-FFF2-40B4-BE49-F238E27FC236}">
                <a16:creationId xmlns:a16="http://schemas.microsoft.com/office/drawing/2014/main" id="{AE19B91E-189C-5A06-ACD8-EC7D6C40FFF7}"/>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0B9B87C8-F489-2D89-3C49-76057C41EA2F}"/>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2723929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D29D191-8CF2-E013-2A20-BE22EA43E362}"/>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3B19200E-8658-D5CA-86C1-E0CAC1C659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4CAEA04D-16A7-0A8D-443D-EDE948F7E972}"/>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DD27B03B-5CA5-A746-FEDF-C841600B7D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D3656BC-CB12-354D-C9E0-0C0B3048E85B}"/>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8CD9811-E073-F566-707C-84F6A81C08EB}"/>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8" name="מציין מיקום של כותרת תחתונה 7">
            <a:extLst>
              <a:ext uri="{FF2B5EF4-FFF2-40B4-BE49-F238E27FC236}">
                <a16:creationId xmlns:a16="http://schemas.microsoft.com/office/drawing/2014/main" id="{F37F6180-E5E9-692B-FE6A-494C0D8218D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BCE6ECA2-5323-CCCE-9EDA-82FDF15F31E4}"/>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3124633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21F526-3DB0-2088-0FED-9844D027ACC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3C9F1B64-1444-713D-39C9-AA7572E145D4}"/>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4" name="מציין מיקום של כותרת תחתונה 3">
            <a:extLst>
              <a:ext uri="{FF2B5EF4-FFF2-40B4-BE49-F238E27FC236}">
                <a16:creationId xmlns:a16="http://schemas.microsoft.com/office/drawing/2014/main" id="{D1582BC0-E7FC-022D-5D84-74A7A71759C5}"/>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1E81A4CF-FD5A-AE6A-4073-A3752C79527B}"/>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3105304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EAF064AF-4930-73C3-D073-92756918F7DF}"/>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3" name="מציין מיקום של כותרת תחתונה 2">
            <a:extLst>
              <a:ext uri="{FF2B5EF4-FFF2-40B4-BE49-F238E27FC236}">
                <a16:creationId xmlns:a16="http://schemas.microsoft.com/office/drawing/2014/main" id="{188E20B7-B62A-5D87-3191-6645FCE83B89}"/>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729D5B97-B7F1-F1AE-6264-522EE012F6D5}"/>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814641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5A6AA5A-6288-E57A-4A9F-8A4C323086F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23BBC1D6-A1DD-AF22-CE2D-560E55419D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F0907CFB-42D2-855E-5695-68E84F6403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81E254D4-27CE-E182-F54B-75F06746A166}"/>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6" name="מציין מיקום של כותרת תחתונה 5">
            <a:extLst>
              <a:ext uri="{FF2B5EF4-FFF2-40B4-BE49-F238E27FC236}">
                <a16:creationId xmlns:a16="http://schemas.microsoft.com/office/drawing/2014/main" id="{2C5A8FEC-443C-5FE2-4BB6-3C006563425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E3093241-52E6-6D4C-EA43-B3CC36236EB5}"/>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329458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C532BC1-A829-9CBE-1ED8-601C2E878736}"/>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153B5364-F6B6-A8E9-8560-0F341C1881C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7AFB2EC3-3D64-E835-FFA7-96B7373C1A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6CD4BFE-D4CA-042C-2060-DBE6DE67E88A}"/>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6" name="מציין מיקום של כותרת תחתונה 5">
            <a:extLst>
              <a:ext uri="{FF2B5EF4-FFF2-40B4-BE49-F238E27FC236}">
                <a16:creationId xmlns:a16="http://schemas.microsoft.com/office/drawing/2014/main" id="{D62CF904-67A8-FE8B-A527-37C2FDE264C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8811B5CF-4468-6412-A6C7-768AFAC8693B}"/>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1119180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D071EE8-18C4-9332-9287-F0C331E5AF81}"/>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973E15E-805A-DF7B-10AA-A88A6B7BB3AF}"/>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F698358-E368-292E-32EC-0C190C46631B}"/>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5" name="מציין מיקום של כותרת תחתונה 4">
            <a:extLst>
              <a:ext uri="{FF2B5EF4-FFF2-40B4-BE49-F238E27FC236}">
                <a16:creationId xmlns:a16="http://schemas.microsoft.com/office/drawing/2014/main" id="{DB81E4F0-5EA9-5112-AB72-A7A3319E342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4A78B78-4119-0BF6-D9F4-93F2718CD49D}"/>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539187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DC4C886D-D277-FAA7-44A5-502097A34AF9}"/>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219B2F0-7980-A348-3058-90B1B89B1930}"/>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815049F-2CBA-BFE4-6E7C-910AB53D2CA0}"/>
              </a:ext>
            </a:extLst>
          </p:cNvPr>
          <p:cNvSpPr>
            <a:spLocks noGrp="1"/>
          </p:cNvSpPr>
          <p:nvPr>
            <p:ph type="dt" sz="half" idx="10"/>
          </p:nvPr>
        </p:nvSpPr>
        <p:spPr/>
        <p:txBody>
          <a:bodyPr/>
          <a:lstStyle/>
          <a:p>
            <a:fld id="{6165299C-73AA-40F1-98D5-9D1A7DA98E04}" type="datetimeFigureOut">
              <a:rPr lang="he-IL" smtClean="0"/>
              <a:t>ח'/חשון/תשפ"ז</a:t>
            </a:fld>
            <a:endParaRPr lang="he-IL"/>
          </a:p>
        </p:txBody>
      </p:sp>
      <p:sp>
        <p:nvSpPr>
          <p:cNvPr id="5" name="מציין מיקום של כותרת תחתונה 4">
            <a:extLst>
              <a:ext uri="{FF2B5EF4-FFF2-40B4-BE49-F238E27FC236}">
                <a16:creationId xmlns:a16="http://schemas.microsoft.com/office/drawing/2014/main" id="{4FF134A1-304E-D2A9-5D75-3C4999D917B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2148E54D-B1C7-47F1-56C1-1EFA362B6F2F}"/>
              </a:ext>
            </a:extLst>
          </p:cNvPr>
          <p:cNvSpPr>
            <a:spLocks noGrp="1"/>
          </p:cNvSpPr>
          <p:nvPr>
            <p:ph type="sldNum" sz="quarter" idx="12"/>
          </p:nvPr>
        </p:nvSpPr>
        <p:spPr/>
        <p:txBody>
          <a:bodyPr/>
          <a:lstStyle/>
          <a:p>
            <a:fld id="{45A122E7-AAA6-4C1C-9AF8-D4C395C36E5C}" type="slidenum">
              <a:rPr lang="he-IL" smtClean="0"/>
              <a:t>‹#›</a:t>
            </a:fld>
            <a:endParaRPr lang="he-IL"/>
          </a:p>
        </p:txBody>
      </p:sp>
    </p:spTree>
    <p:extLst>
      <p:ext uri="{BB962C8B-B14F-4D97-AF65-F5344CB8AC3E}">
        <p14:creationId xmlns:p14="http://schemas.microsoft.com/office/powerpoint/2010/main" val="3854391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AD45AD9A-4EC2-3A4A-24FA-69DCBC8C1270}"/>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6E68815-404A-30CC-4D99-065AB33177C3}"/>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19A0DDC-B3A3-056A-6152-F9E9FA0F23DC}"/>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6165299C-73AA-40F1-98D5-9D1A7DA98E04}" type="datetimeFigureOut">
              <a:rPr lang="he-IL" smtClean="0"/>
              <a:t>ח'/חשון/תשפ"ז</a:t>
            </a:fld>
            <a:endParaRPr lang="he-IL"/>
          </a:p>
        </p:txBody>
      </p:sp>
      <p:sp>
        <p:nvSpPr>
          <p:cNvPr id="5" name="מציין מיקום של כותרת תחתונה 4">
            <a:extLst>
              <a:ext uri="{FF2B5EF4-FFF2-40B4-BE49-F238E27FC236}">
                <a16:creationId xmlns:a16="http://schemas.microsoft.com/office/drawing/2014/main" id="{2B82208A-1D5C-917C-52EB-C41E14673D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5F02EAD7-0F9E-B004-DD44-3937CA5C76CF}"/>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45A122E7-AAA6-4C1C-9AF8-D4C395C36E5C}" type="slidenum">
              <a:rPr lang="he-IL" smtClean="0"/>
              <a:t>‹#›</a:t>
            </a:fld>
            <a:endParaRPr lang="he-IL"/>
          </a:p>
        </p:txBody>
      </p:sp>
    </p:spTree>
    <p:extLst>
      <p:ext uri="{BB962C8B-B14F-4D97-AF65-F5344CB8AC3E}">
        <p14:creationId xmlns:p14="http://schemas.microsoft.com/office/powerpoint/2010/main" val="3263028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0.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7.xml"/><Relationship Id="rId4" Type="http://schemas.openxmlformats.org/officeDocument/2006/relationships/image" Target="../media/image33.jpg"/></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8.jpg"/><Relationship Id="rId4" Type="http://schemas.openxmlformats.org/officeDocument/2006/relationships/image" Target="../media/image47.jpg"/></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41.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image" Target="../media/image75.jpg"/><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6.jp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79.gi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9E1EA947-5F90-8BEA-D4C3-2FCC12052795}"/>
              </a:ext>
            </a:extLst>
          </p:cNvPr>
          <p:cNvSpPr txBox="1"/>
          <p:nvPr/>
        </p:nvSpPr>
        <p:spPr>
          <a:xfrm>
            <a:off x="3775200" y="5201150"/>
            <a:ext cx="4538012" cy="830997"/>
          </a:xfrm>
          <a:prstGeom prst="rect">
            <a:avLst/>
          </a:prstGeom>
          <a:solidFill>
            <a:srgbClr val="FFFF00"/>
          </a:solidFill>
          <a:ln>
            <a:solidFill>
              <a:schemeClr val="tx1"/>
            </a:solidFill>
          </a:ln>
        </p:spPr>
        <p:txBody>
          <a:bodyPr wrap="square">
            <a:spAutoFit/>
          </a:bodyPr>
          <a:lstStyle/>
          <a:p>
            <a:r>
              <a:rPr lang="he-IL" sz="2400" b="1" dirty="0">
                <a:latin typeface="Arial" panose="020B0604020202020204" pitchFamily="34" charset="0"/>
              </a:rPr>
              <a:t>ח' בכסלו תש"ד – ו' בתשרי תשע"ב</a:t>
            </a:r>
          </a:p>
          <a:p>
            <a:pPr algn="ctr"/>
            <a:r>
              <a:rPr lang="he-IL" sz="2400" b="1" i="0" strike="noStrike" dirty="0">
                <a:effectLst/>
                <a:latin typeface="Arial" panose="020B0604020202020204" pitchFamily="34" charset="0"/>
              </a:rPr>
              <a:t>(1943-2011)</a:t>
            </a:r>
            <a:endParaRPr lang="he-IL" sz="2400" b="1" dirty="0"/>
          </a:p>
        </p:txBody>
      </p:sp>
      <p:sp>
        <p:nvSpPr>
          <p:cNvPr id="7" name="תיבת טקסט 6">
            <a:extLst>
              <a:ext uri="{FF2B5EF4-FFF2-40B4-BE49-F238E27FC236}">
                <a16:creationId xmlns:a16="http://schemas.microsoft.com/office/drawing/2014/main" id="{26665924-E76F-D754-E72B-26FD53D81C73}"/>
              </a:ext>
            </a:extLst>
          </p:cNvPr>
          <p:cNvSpPr txBox="1"/>
          <p:nvPr/>
        </p:nvSpPr>
        <p:spPr>
          <a:xfrm>
            <a:off x="4516079" y="136487"/>
            <a:ext cx="3159839" cy="769441"/>
          </a:xfrm>
          <a:prstGeom prst="rect">
            <a:avLst/>
          </a:prstGeom>
          <a:solidFill>
            <a:srgbClr val="FFFF00"/>
          </a:solidFill>
          <a:ln>
            <a:solidFill>
              <a:schemeClr val="tx1"/>
            </a:solidFill>
          </a:ln>
        </p:spPr>
        <p:txBody>
          <a:bodyPr wrap="none" rtlCol="1">
            <a:spAutoFit/>
          </a:bodyPr>
          <a:lstStyle/>
          <a:p>
            <a:r>
              <a:rPr lang="he-IL" sz="4400" b="1" dirty="0"/>
              <a:t>חנן פורת ז"ל</a:t>
            </a:r>
          </a:p>
        </p:txBody>
      </p:sp>
      <p:pic>
        <p:nvPicPr>
          <p:cNvPr id="3" name="תמונה 2">
            <a:extLst>
              <a:ext uri="{FF2B5EF4-FFF2-40B4-BE49-F238E27FC236}">
                <a16:creationId xmlns:a16="http://schemas.microsoft.com/office/drawing/2014/main" id="{0ECFE124-070D-C832-4A65-07C5E7A273E7}"/>
              </a:ext>
            </a:extLst>
          </p:cNvPr>
          <p:cNvPicPr>
            <a:picLocks noChangeAspect="1"/>
          </p:cNvPicPr>
          <p:nvPr/>
        </p:nvPicPr>
        <p:blipFill>
          <a:blip r:embed="rId2"/>
          <a:stretch>
            <a:fillRect/>
          </a:stretch>
        </p:blipFill>
        <p:spPr>
          <a:xfrm>
            <a:off x="5062298" y="2610207"/>
            <a:ext cx="2067404" cy="2384840"/>
          </a:xfrm>
          <a:prstGeom prst="rect">
            <a:avLst/>
          </a:prstGeom>
        </p:spPr>
      </p:pic>
      <p:pic>
        <p:nvPicPr>
          <p:cNvPr id="4" name="תמונה 3">
            <a:extLst>
              <a:ext uri="{FF2B5EF4-FFF2-40B4-BE49-F238E27FC236}">
                <a16:creationId xmlns:a16="http://schemas.microsoft.com/office/drawing/2014/main" id="{2E7315E8-8BFE-7B49-6EDB-6F6AAEDAF1C9}"/>
              </a:ext>
            </a:extLst>
          </p:cNvPr>
          <p:cNvPicPr>
            <a:picLocks noChangeAspect="1"/>
          </p:cNvPicPr>
          <p:nvPr/>
        </p:nvPicPr>
        <p:blipFill>
          <a:blip r:embed="rId3"/>
          <a:stretch>
            <a:fillRect/>
          </a:stretch>
        </p:blipFill>
        <p:spPr>
          <a:xfrm>
            <a:off x="9510500" y="521208"/>
            <a:ext cx="2067404" cy="3114602"/>
          </a:xfrm>
          <a:prstGeom prst="rect">
            <a:avLst/>
          </a:prstGeom>
        </p:spPr>
      </p:pic>
      <p:pic>
        <p:nvPicPr>
          <p:cNvPr id="8" name="תמונה 7">
            <a:extLst>
              <a:ext uri="{FF2B5EF4-FFF2-40B4-BE49-F238E27FC236}">
                <a16:creationId xmlns:a16="http://schemas.microsoft.com/office/drawing/2014/main" id="{AB99D6F4-B336-95F0-AB74-BAACCBC5FE2D}"/>
              </a:ext>
            </a:extLst>
          </p:cNvPr>
          <p:cNvPicPr>
            <a:picLocks noChangeAspect="1"/>
          </p:cNvPicPr>
          <p:nvPr/>
        </p:nvPicPr>
        <p:blipFill>
          <a:blip r:embed="rId4"/>
          <a:stretch>
            <a:fillRect/>
          </a:stretch>
        </p:blipFill>
        <p:spPr>
          <a:xfrm>
            <a:off x="755284" y="4175709"/>
            <a:ext cx="2588756" cy="1725105"/>
          </a:xfrm>
          <a:prstGeom prst="rect">
            <a:avLst/>
          </a:prstGeom>
        </p:spPr>
      </p:pic>
      <p:pic>
        <p:nvPicPr>
          <p:cNvPr id="12" name="תמונה 11">
            <a:extLst>
              <a:ext uri="{FF2B5EF4-FFF2-40B4-BE49-F238E27FC236}">
                <a16:creationId xmlns:a16="http://schemas.microsoft.com/office/drawing/2014/main" id="{E5F3CFFF-DBE3-6346-6388-61A56EF41491}"/>
              </a:ext>
            </a:extLst>
          </p:cNvPr>
          <p:cNvPicPr>
            <a:picLocks noChangeAspect="1"/>
          </p:cNvPicPr>
          <p:nvPr/>
        </p:nvPicPr>
        <p:blipFill>
          <a:blip r:embed="rId5"/>
          <a:stretch>
            <a:fillRect/>
          </a:stretch>
        </p:blipFill>
        <p:spPr>
          <a:xfrm>
            <a:off x="9175532" y="4157778"/>
            <a:ext cx="2626828" cy="1760969"/>
          </a:xfrm>
          <a:prstGeom prst="rect">
            <a:avLst/>
          </a:prstGeom>
        </p:spPr>
      </p:pic>
      <p:sp>
        <p:nvSpPr>
          <p:cNvPr id="5" name="Google Shape;96;p1">
            <a:extLst>
              <a:ext uri="{FF2B5EF4-FFF2-40B4-BE49-F238E27FC236}">
                <a16:creationId xmlns:a16="http://schemas.microsoft.com/office/drawing/2014/main" id="{B43A98B8-7E7F-FD2F-C6F8-A73CCF741601}"/>
              </a:ext>
            </a:extLst>
          </p:cNvPr>
          <p:cNvSpPr txBox="1"/>
          <p:nvPr/>
        </p:nvSpPr>
        <p:spPr>
          <a:xfrm>
            <a:off x="4398967" y="1104163"/>
            <a:ext cx="3394054" cy="1200288"/>
          </a:xfrm>
          <a:prstGeom prst="rect">
            <a:avLst/>
          </a:prstGeom>
          <a:solidFill>
            <a:srgbClr val="0000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spcBef>
                <a:spcPts val="0"/>
              </a:spcBef>
              <a:spcAft>
                <a:spcPts val="0"/>
              </a:spcAft>
              <a:buNone/>
            </a:pPr>
            <a:r>
              <a:rPr lang="he-IL" sz="2400" b="1" dirty="0">
                <a:solidFill>
                  <a:schemeClr val="lt1"/>
                </a:solidFill>
                <a:latin typeface="Arial"/>
                <a:cs typeface="Arial"/>
                <a:sym typeface="Arial"/>
              </a:rPr>
              <a:t>קליטת העלייה </a:t>
            </a:r>
          </a:p>
          <a:p>
            <a:pPr marL="0" marR="0" lvl="0" indent="0" algn="r" rtl="1">
              <a:spcBef>
                <a:spcPts val="0"/>
              </a:spcBef>
              <a:spcAft>
                <a:spcPts val="0"/>
              </a:spcAft>
              <a:buNone/>
            </a:pPr>
            <a:r>
              <a:rPr lang="he-IL" sz="2400" b="1" dirty="0">
                <a:solidFill>
                  <a:schemeClr val="lt1"/>
                </a:solidFill>
                <a:latin typeface="Arial"/>
                <a:cs typeface="Arial"/>
                <a:sym typeface="Arial"/>
              </a:rPr>
              <a:t>מברית המועצות ואתיופיה</a:t>
            </a:r>
          </a:p>
          <a:p>
            <a:pPr marL="0" marR="0" lvl="0" indent="0" algn="ctr" rtl="1">
              <a:spcBef>
                <a:spcPts val="0"/>
              </a:spcBef>
              <a:spcAft>
                <a:spcPts val="0"/>
              </a:spcAft>
              <a:buNone/>
            </a:pPr>
            <a:r>
              <a:rPr lang="he-IL" sz="2400" b="1" dirty="0">
                <a:solidFill>
                  <a:schemeClr val="lt1"/>
                </a:solidFill>
                <a:latin typeface="Arial"/>
                <a:cs typeface="Arial"/>
                <a:sym typeface="Arial"/>
              </a:rPr>
              <a:t>קיבוץ גלויות</a:t>
            </a:r>
            <a:endParaRPr dirty="0"/>
          </a:p>
        </p:txBody>
      </p:sp>
      <p:pic>
        <p:nvPicPr>
          <p:cNvPr id="9" name="תמונה 8" descr="ביתא ישראל חוברת לעם ישראל - איילת גרשוני. | הלו&quot;ז העברי">
            <a:extLst>
              <a:ext uri="{FF2B5EF4-FFF2-40B4-BE49-F238E27FC236}">
                <a16:creationId xmlns:a16="http://schemas.microsoft.com/office/drawing/2014/main" id="{89115F7C-B8C1-B3D0-0A67-371741A65B99}"/>
              </a:ext>
            </a:extLst>
          </p:cNvPr>
          <p:cNvPicPr>
            <a:picLocks noChangeAspect="1"/>
          </p:cNvPicPr>
          <p:nvPr/>
        </p:nvPicPr>
        <p:blipFill>
          <a:blip r:embed="rId6"/>
          <a:stretch>
            <a:fillRect/>
          </a:stretch>
        </p:blipFill>
        <p:spPr>
          <a:xfrm>
            <a:off x="443489" y="1271237"/>
            <a:ext cx="3212346" cy="2157763"/>
          </a:xfrm>
          <a:prstGeom prst="rect">
            <a:avLst/>
          </a:prstGeom>
        </p:spPr>
      </p:pic>
      <p:sp>
        <p:nvSpPr>
          <p:cNvPr id="13" name="תיבת טקסט 12">
            <a:extLst>
              <a:ext uri="{FF2B5EF4-FFF2-40B4-BE49-F238E27FC236}">
                <a16:creationId xmlns:a16="http://schemas.microsoft.com/office/drawing/2014/main" id="{728051EF-59E0-829A-0590-14EB9E57D5D8}"/>
              </a:ext>
            </a:extLst>
          </p:cNvPr>
          <p:cNvSpPr txBox="1"/>
          <p:nvPr/>
        </p:nvSpPr>
        <p:spPr>
          <a:xfrm>
            <a:off x="4307868" y="6382959"/>
            <a:ext cx="3576253" cy="338554"/>
          </a:xfrm>
          <a:prstGeom prst="rect">
            <a:avLst/>
          </a:prstGeom>
          <a:solidFill>
            <a:srgbClr val="FFFF00"/>
          </a:solidFill>
          <a:ln>
            <a:solidFill>
              <a:schemeClr val="tx1"/>
            </a:solidFill>
          </a:ln>
        </p:spPr>
        <p:txBody>
          <a:bodyPr wrap="square">
            <a:spAutoFit/>
          </a:bodyPr>
          <a:lstStyle/>
          <a:p>
            <a:r>
              <a:rPr lang="he-IL" sz="1600" b="1" dirty="0">
                <a:latin typeface="Arial" panose="020B0604020202020204" pitchFamily="34" charset="0"/>
              </a:rPr>
              <a:t>ערך: שמואל </a:t>
            </a:r>
            <a:r>
              <a:rPr lang="he-IL" sz="1600" b="1" dirty="0" err="1">
                <a:latin typeface="Arial" panose="020B0604020202020204" pitchFamily="34" charset="0"/>
              </a:rPr>
              <a:t>כ"ץ</a:t>
            </a:r>
            <a:r>
              <a:rPr lang="he-IL" sz="1600" b="1" dirty="0">
                <a:latin typeface="Arial" panose="020B0604020202020204" pitchFamily="34" charset="0"/>
              </a:rPr>
              <a:t>, רב בתי ספר בירושלים</a:t>
            </a:r>
            <a:endParaRPr lang="he-IL" sz="1600" b="1" dirty="0"/>
          </a:p>
        </p:txBody>
      </p:sp>
    </p:spTree>
    <p:extLst>
      <p:ext uri="{BB962C8B-B14F-4D97-AF65-F5344CB8AC3E}">
        <p14:creationId xmlns:p14="http://schemas.microsoft.com/office/powerpoint/2010/main" val="2597753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9129AF50-A7A4-D5F0-C702-D08F20AE6236}"/>
              </a:ext>
            </a:extLst>
          </p:cNvPr>
          <p:cNvPicPr>
            <a:picLocks noChangeAspect="1"/>
          </p:cNvPicPr>
          <p:nvPr/>
        </p:nvPicPr>
        <p:blipFill>
          <a:blip r:embed="rId2"/>
          <a:stretch>
            <a:fillRect/>
          </a:stretch>
        </p:blipFill>
        <p:spPr>
          <a:xfrm>
            <a:off x="2771095" y="255562"/>
            <a:ext cx="6649810" cy="6346875"/>
          </a:xfrm>
          <a:prstGeom prst="rect">
            <a:avLst/>
          </a:prstGeom>
          <a:ln>
            <a:solidFill>
              <a:schemeClr val="tx1"/>
            </a:solidFill>
          </a:ln>
        </p:spPr>
      </p:pic>
    </p:spTree>
    <p:extLst>
      <p:ext uri="{BB962C8B-B14F-4D97-AF65-F5344CB8AC3E}">
        <p14:creationId xmlns:p14="http://schemas.microsoft.com/office/powerpoint/2010/main" val="379504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DA3A7FA6-7DDC-A378-BF6F-1E393169DFF7}"/>
              </a:ext>
            </a:extLst>
          </p:cNvPr>
          <p:cNvPicPr>
            <a:picLocks noChangeAspect="1"/>
          </p:cNvPicPr>
          <p:nvPr/>
        </p:nvPicPr>
        <p:blipFill>
          <a:blip r:embed="rId2"/>
          <a:stretch>
            <a:fillRect/>
          </a:stretch>
        </p:blipFill>
        <p:spPr>
          <a:xfrm>
            <a:off x="1890125" y="296479"/>
            <a:ext cx="8411749" cy="1857634"/>
          </a:xfrm>
          <a:prstGeom prst="rect">
            <a:avLst/>
          </a:prstGeom>
          <a:ln>
            <a:solidFill>
              <a:schemeClr val="tx1"/>
            </a:solidFill>
          </a:ln>
        </p:spPr>
      </p:pic>
      <p:sp>
        <p:nvSpPr>
          <p:cNvPr id="4" name="תיבת טקסט 3">
            <a:extLst>
              <a:ext uri="{FF2B5EF4-FFF2-40B4-BE49-F238E27FC236}">
                <a16:creationId xmlns:a16="http://schemas.microsoft.com/office/drawing/2014/main" id="{165AAF45-1125-516D-007D-D43A47974532}"/>
              </a:ext>
            </a:extLst>
          </p:cNvPr>
          <p:cNvSpPr txBox="1"/>
          <p:nvPr/>
        </p:nvSpPr>
        <p:spPr>
          <a:xfrm>
            <a:off x="1718437" y="2154113"/>
            <a:ext cx="2140331" cy="307777"/>
          </a:xfrm>
          <a:prstGeom prst="rect">
            <a:avLst/>
          </a:prstGeom>
          <a:noFill/>
        </p:spPr>
        <p:txBody>
          <a:bodyPr wrap="none" rtlCol="1">
            <a:spAutoFit/>
          </a:bodyPr>
          <a:lstStyle/>
          <a:p>
            <a:r>
              <a:rPr lang="he-IL" sz="1400" b="1" dirty="0"/>
              <a:t>מעט מן האור, פרשת לך </a:t>
            </a:r>
            <a:r>
              <a:rPr lang="he-IL" sz="1400" b="1" dirty="0" err="1"/>
              <a:t>לך</a:t>
            </a:r>
            <a:endParaRPr lang="he-IL" sz="1400" b="1" dirty="0"/>
          </a:p>
        </p:txBody>
      </p:sp>
      <p:sp>
        <p:nvSpPr>
          <p:cNvPr id="7" name="תיבת טקסט 6">
            <a:extLst>
              <a:ext uri="{FF2B5EF4-FFF2-40B4-BE49-F238E27FC236}">
                <a16:creationId xmlns:a16="http://schemas.microsoft.com/office/drawing/2014/main" id="{34C4C84C-1834-16FA-63F0-3ED283C2B343}"/>
              </a:ext>
            </a:extLst>
          </p:cNvPr>
          <p:cNvSpPr txBox="1"/>
          <p:nvPr/>
        </p:nvSpPr>
        <p:spPr>
          <a:xfrm>
            <a:off x="3500576" y="5812923"/>
            <a:ext cx="5190845" cy="369332"/>
          </a:xfrm>
          <a:prstGeom prst="rect">
            <a:avLst/>
          </a:prstGeom>
          <a:noFill/>
        </p:spPr>
        <p:txBody>
          <a:bodyPr wrap="none" rtlCol="1">
            <a:spAutoFit/>
          </a:bodyPr>
          <a:lstStyle/>
          <a:p>
            <a:r>
              <a:rPr lang="he-IL" sz="1400" b="1" dirty="0"/>
              <a:t>מסלול ההליכה של אברהם אבינו ואביו לארץ כנען, אתר תנ"ך ממלכ</a:t>
            </a:r>
            <a:r>
              <a:rPr lang="he-IL" dirty="0"/>
              <a:t>תי</a:t>
            </a:r>
          </a:p>
        </p:txBody>
      </p:sp>
      <p:pic>
        <p:nvPicPr>
          <p:cNvPr id="8" name="תמונה 7" descr="אור כשדים: היכן מצויה מולדתו של אברהם?">
            <a:extLst>
              <a:ext uri="{FF2B5EF4-FFF2-40B4-BE49-F238E27FC236}">
                <a16:creationId xmlns:a16="http://schemas.microsoft.com/office/drawing/2014/main" id="{C901D462-2667-7D78-1E70-B8C7E65D8A50}"/>
              </a:ext>
            </a:extLst>
          </p:cNvPr>
          <p:cNvPicPr>
            <a:picLocks noChangeAspect="1"/>
          </p:cNvPicPr>
          <p:nvPr/>
        </p:nvPicPr>
        <p:blipFill>
          <a:blip r:embed="rId3"/>
          <a:stretch>
            <a:fillRect/>
          </a:stretch>
        </p:blipFill>
        <p:spPr>
          <a:xfrm>
            <a:off x="3606163" y="2843841"/>
            <a:ext cx="4979670" cy="2951365"/>
          </a:xfrm>
          <a:prstGeom prst="rect">
            <a:avLst/>
          </a:prstGeom>
          <a:ln>
            <a:solidFill>
              <a:schemeClr val="tx1"/>
            </a:solidFill>
          </a:ln>
        </p:spPr>
      </p:pic>
    </p:spTree>
    <p:extLst>
      <p:ext uri="{BB962C8B-B14F-4D97-AF65-F5344CB8AC3E}">
        <p14:creationId xmlns:p14="http://schemas.microsoft.com/office/powerpoint/2010/main" val="2799339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F3E83412-015F-3AA3-C385-84DEAE5CB5EA}"/>
              </a:ext>
            </a:extLst>
          </p:cNvPr>
          <p:cNvPicPr>
            <a:picLocks noChangeAspect="1"/>
          </p:cNvPicPr>
          <p:nvPr/>
        </p:nvPicPr>
        <p:blipFill>
          <a:blip r:embed="rId2"/>
          <a:stretch>
            <a:fillRect/>
          </a:stretch>
        </p:blipFill>
        <p:spPr>
          <a:xfrm>
            <a:off x="2579889" y="82899"/>
            <a:ext cx="7032222" cy="6692202"/>
          </a:xfrm>
          <a:prstGeom prst="rect">
            <a:avLst/>
          </a:prstGeom>
          <a:ln>
            <a:solidFill>
              <a:schemeClr val="tx1"/>
            </a:solidFill>
          </a:ln>
        </p:spPr>
      </p:pic>
    </p:spTree>
    <p:extLst>
      <p:ext uri="{BB962C8B-B14F-4D97-AF65-F5344CB8AC3E}">
        <p14:creationId xmlns:p14="http://schemas.microsoft.com/office/powerpoint/2010/main" val="498572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3170221-49FD-2593-D427-03B8628847F4}"/>
              </a:ext>
            </a:extLst>
          </p:cNvPr>
          <p:cNvPicPr>
            <a:picLocks noChangeAspect="1"/>
          </p:cNvPicPr>
          <p:nvPr/>
        </p:nvPicPr>
        <p:blipFill>
          <a:blip r:embed="rId2"/>
          <a:srcRect b="12023"/>
          <a:stretch>
            <a:fillRect/>
          </a:stretch>
        </p:blipFill>
        <p:spPr>
          <a:xfrm>
            <a:off x="2582914" y="304595"/>
            <a:ext cx="7026172" cy="5867606"/>
          </a:xfrm>
          <a:prstGeom prst="rect">
            <a:avLst/>
          </a:prstGeom>
          <a:ln>
            <a:solidFill>
              <a:schemeClr val="tx1"/>
            </a:solidFill>
          </a:ln>
        </p:spPr>
      </p:pic>
    </p:spTree>
    <p:extLst>
      <p:ext uri="{BB962C8B-B14F-4D97-AF65-F5344CB8AC3E}">
        <p14:creationId xmlns:p14="http://schemas.microsoft.com/office/powerpoint/2010/main" val="3568297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B045885-1865-969E-6D23-B70C66C3C0BF}"/>
              </a:ext>
            </a:extLst>
          </p:cNvPr>
          <p:cNvPicPr>
            <a:picLocks noChangeAspect="1"/>
          </p:cNvPicPr>
          <p:nvPr/>
        </p:nvPicPr>
        <p:blipFill>
          <a:blip r:embed="rId2"/>
          <a:stretch>
            <a:fillRect/>
          </a:stretch>
        </p:blipFill>
        <p:spPr>
          <a:xfrm>
            <a:off x="2064241" y="181031"/>
            <a:ext cx="8063517" cy="6165176"/>
          </a:xfrm>
          <a:prstGeom prst="rect">
            <a:avLst/>
          </a:prstGeom>
          <a:ln>
            <a:solidFill>
              <a:schemeClr val="tx1"/>
            </a:solidFill>
          </a:ln>
        </p:spPr>
      </p:pic>
      <p:sp>
        <p:nvSpPr>
          <p:cNvPr id="5" name="תיבת טקסט 4">
            <a:extLst>
              <a:ext uri="{FF2B5EF4-FFF2-40B4-BE49-F238E27FC236}">
                <a16:creationId xmlns:a16="http://schemas.microsoft.com/office/drawing/2014/main" id="{99AAE6C8-6F27-A310-3BFE-5058D08E078A}"/>
              </a:ext>
            </a:extLst>
          </p:cNvPr>
          <p:cNvSpPr txBox="1"/>
          <p:nvPr/>
        </p:nvSpPr>
        <p:spPr>
          <a:xfrm>
            <a:off x="1928749" y="6346207"/>
            <a:ext cx="2140331" cy="307777"/>
          </a:xfrm>
          <a:prstGeom prst="rect">
            <a:avLst/>
          </a:prstGeom>
          <a:noFill/>
        </p:spPr>
        <p:txBody>
          <a:bodyPr wrap="none" rtlCol="1">
            <a:spAutoFit/>
          </a:bodyPr>
          <a:lstStyle/>
          <a:p>
            <a:r>
              <a:rPr lang="he-IL" sz="1400" b="1" dirty="0"/>
              <a:t>מעט מן האור, פרשת לך </a:t>
            </a:r>
            <a:r>
              <a:rPr lang="he-IL" sz="1400" b="1" dirty="0" err="1"/>
              <a:t>לך</a:t>
            </a:r>
            <a:endParaRPr lang="he-IL" sz="1400" b="1" dirty="0"/>
          </a:p>
        </p:txBody>
      </p:sp>
    </p:spTree>
    <p:extLst>
      <p:ext uri="{BB962C8B-B14F-4D97-AF65-F5344CB8AC3E}">
        <p14:creationId xmlns:p14="http://schemas.microsoft.com/office/powerpoint/2010/main" val="2072598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597C381E-CC4C-D004-A6FC-76E6CBC5AEEF}"/>
              </a:ext>
            </a:extLst>
          </p:cNvPr>
          <p:cNvPicPr>
            <a:picLocks noChangeAspect="1"/>
          </p:cNvPicPr>
          <p:nvPr/>
        </p:nvPicPr>
        <p:blipFill>
          <a:blip r:embed="rId2"/>
          <a:stretch>
            <a:fillRect/>
          </a:stretch>
        </p:blipFill>
        <p:spPr>
          <a:xfrm>
            <a:off x="2193372" y="518132"/>
            <a:ext cx="7480980" cy="6257571"/>
          </a:xfrm>
          <a:prstGeom prst="rect">
            <a:avLst/>
          </a:prstGeom>
          <a:ln>
            <a:solidFill>
              <a:schemeClr val="tx1"/>
            </a:solidFill>
          </a:ln>
        </p:spPr>
      </p:pic>
      <p:sp>
        <p:nvSpPr>
          <p:cNvPr id="8" name="תיבת טקסט 7">
            <a:extLst>
              <a:ext uri="{FF2B5EF4-FFF2-40B4-BE49-F238E27FC236}">
                <a16:creationId xmlns:a16="http://schemas.microsoft.com/office/drawing/2014/main" id="{38C8A62D-4CF1-15AA-D619-992616F17359}"/>
              </a:ext>
            </a:extLst>
          </p:cNvPr>
          <p:cNvSpPr txBox="1"/>
          <p:nvPr/>
        </p:nvSpPr>
        <p:spPr>
          <a:xfrm>
            <a:off x="4469593" y="82297"/>
            <a:ext cx="3252814" cy="338554"/>
          </a:xfrm>
          <a:prstGeom prst="rect">
            <a:avLst/>
          </a:prstGeom>
          <a:solidFill>
            <a:srgbClr val="FFFF00"/>
          </a:solidFill>
          <a:ln>
            <a:solidFill>
              <a:schemeClr val="tx1"/>
            </a:solidFill>
          </a:ln>
        </p:spPr>
        <p:txBody>
          <a:bodyPr wrap="none" rtlCol="1">
            <a:spAutoFit/>
          </a:bodyPr>
          <a:lstStyle/>
          <a:p>
            <a:r>
              <a:rPr lang="he-IL" sz="1600" b="1" dirty="0"/>
              <a:t>ואף-על-פי-כן ולמרות </a:t>
            </a:r>
            <a:r>
              <a:rPr lang="he-IL" sz="1600" b="1" dirty="0" err="1"/>
              <a:t>הכל</a:t>
            </a:r>
            <a:r>
              <a:rPr lang="he-IL" sz="1600" b="1" dirty="0"/>
              <a:t> ארץ ישראל</a:t>
            </a:r>
          </a:p>
        </p:txBody>
      </p:sp>
    </p:spTree>
    <p:extLst>
      <p:ext uri="{BB962C8B-B14F-4D97-AF65-F5344CB8AC3E}">
        <p14:creationId xmlns:p14="http://schemas.microsoft.com/office/powerpoint/2010/main" val="3141185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A5073C5-427E-E41E-395C-E9ACBFEEF7A3}"/>
              </a:ext>
            </a:extLst>
          </p:cNvPr>
          <p:cNvPicPr>
            <a:picLocks noChangeAspect="1"/>
          </p:cNvPicPr>
          <p:nvPr/>
        </p:nvPicPr>
        <p:blipFill>
          <a:blip r:embed="rId2"/>
          <a:stretch>
            <a:fillRect/>
          </a:stretch>
        </p:blipFill>
        <p:spPr>
          <a:xfrm>
            <a:off x="2480769" y="93091"/>
            <a:ext cx="7230461" cy="6671817"/>
          </a:xfrm>
          <a:prstGeom prst="rect">
            <a:avLst/>
          </a:prstGeom>
          <a:ln>
            <a:solidFill>
              <a:schemeClr val="tx1"/>
            </a:solidFill>
          </a:ln>
        </p:spPr>
      </p:pic>
    </p:spTree>
    <p:extLst>
      <p:ext uri="{BB962C8B-B14F-4D97-AF65-F5344CB8AC3E}">
        <p14:creationId xmlns:p14="http://schemas.microsoft.com/office/powerpoint/2010/main" val="2544059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62A70B4-D7AB-CFDE-8EE0-4EFFEEE19F6C}"/>
              </a:ext>
            </a:extLst>
          </p:cNvPr>
          <p:cNvPicPr>
            <a:picLocks noChangeAspect="1"/>
          </p:cNvPicPr>
          <p:nvPr/>
        </p:nvPicPr>
        <p:blipFill>
          <a:blip r:embed="rId2"/>
          <a:stretch>
            <a:fillRect/>
          </a:stretch>
        </p:blipFill>
        <p:spPr>
          <a:xfrm>
            <a:off x="2331731" y="89797"/>
            <a:ext cx="7528538" cy="6550389"/>
          </a:xfrm>
          <a:prstGeom prst="rect">
            <a:avLst/>
          </a:prstGeom>
          <a:ln>
            <a:solidFill>
              <a:schemeClr val="tx1"/>
            </a:solidFill>
          </a:ln>
        </p:spPr>
      </p:pic>
    </p:spTree>
    <p:extLst>
      <p:ext uri="{BB962C8B-B14F-4D97-AF65-F5344CB8AC3E}">
        <p14:creationId xmlns:p14="http://schemas.microsoft.com/office/powerpoint/2010/main" val="411764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13461ED6-202F-B24C-66A6-696A7F04DEBD}"/>
              </a:ext>
            </a:extLst>
          </p:cNvPr>
          <p:cNvPicPr>
            <a:picLocks noChangeAspect="1"/>
          </p:cNvPicPr>
          <p:nvPr/>
        </p:nvPicPr>
        <p:blipFill>
          <a:blip r:embed="rId2"/>
          <a:stretch>
            <a:fillRect/>
          </a:stretch>
        </p:blipFill>
        <p:spPr>
          <a:xfrm>
            <a:off x="2373960" y="134874"/>
            <a:ext cx="7444080" cy="6588252"/>
          </a:xfrm>
          <a:prstGeom prst="rect">
            <a:avLst/>
          </a:prstGeom>
          <a:ln>
            <a:solidFill>
              <a:schemeClr val="tx1"/>
            </a:solidFill>
          </a:ln>
        </p:spPr>
      </p:pic>
    </p:spTree>
    <p:extLst>
      <p:ext uri="{BB962C8B-B14F-4D97-AF65-F5344CB8AC3E}">
        <p14:creationId xmlns:p14="http://schemas.microsoft.com/office/powerpoint/2010/main" val="44469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3CFF2C0F-74A8-0E8C-A14E-D6B4D6DB1B81}"/>
              </a:ext>
            </a:extLst>
          </p:cNvPr>
          <p:cNvPicPr>
            <a:picLocks noChangeAspect="1"/>
          </p:cNvPicPr>
          <p:nvPr/>
        </p:nvPicPr>
        <p:blipFill>
          <a:blip r:embed="rId2"/>
          <a:stretch>
            <a:fillRect/>
          </a:stretch>
        </p:blipFill>
        <p:spPr>
          <a:xfrm>
            <a:off x="1823441" y="367471"/>
            <a:ext cx="8545118" cy="1438476"/>
          </a:xfrm>
          <a:prstGeom prst="rect">
            <a:avLst/>
          </a:prstGeom>
          <a:ln>
            <a:solidFill>
              <a:schemeClr val="tx1"/>
            </a:solidFill>
          </a:ln>
        </p:spPr>
      </p:pic>
      <p:sp>
        <p:nvSpPr>
          <p:cNvPr id="7" name="תיבת טקסט 6">
            <a:extLst>
              <a:ext uri="{FF2B5EF4-FFF2-40B4-BE49-F238E27FC236}">
                <a16:creationId xmlns:a16="http://schemas.microsoft.com/office/drawing/2014/main" id="{EE6B616E-DC30-E1B8-68C4-5A07EC576ADE}"/>
              </a:ext>
            </a:extLst>
          </p:cNvPr>
          <p:cNvSpPr txBox="1"/>
          <p:nvPr/>
        </p:nvSpPr>
        <p:spPr>
          <a:xfrm>
            <a:off x="1713481" y="1848076"/>
            <a:ext cx="2478564" cy="523220"/>
          </a:xfrm>
          <a:prstGeom prst="rect">
            <a:avLst/>
          </a:prstGeom>
          <a:noFill/>
        </p:spPr>
        <p:txBody>
          <a:bodyPr wrap="none" rtlCol="1">
            <a:spAutoFit/>
          </a:bodyPr>
          <a:lstStyle/>
          <a:p>
            <a:r>
              <a:rPr lang="he-IL" sz="1400" b="1" dirty="0"/>
              <a:t>מגד ירחים, 131, אלול תש"ע</a:t>
            </a:r>
          </a:p>
          <a:p>
            <a:r>
              <a:rPr lang="he-IL" sz="1400" b="1" dirty="0"/>
              <a:t>אתר 'בית הרב קוק', אתר ישיבה</a:t>
            </a:r>
          </a:p>
        </p:txBody>
      </p:sp>
      <p:sp>
        <p:nvSpPr>
          <p:cNvPr id="9" name="תיבת טקסט 8">
            <a:extLst>
              <a:ext uri="{FF2B5EF4-FFF2-40B4-BE49-F238E27FC236}">
                <a16:creationId xmlns:a16="http://schemas.microsoft.com/office/drawing/2014/main" id="{06ED3BC9-2962-1FFC-3C94-5DF58623CCB4}"/>
              </a:ext>
            </a:extLst>
          </p:cNvPr>
          <p:cNvSpPr txBox="1"/>
          <p:nvPr/>
        </p:nvSpPr>
        <p:spPr>
          <a:xfrm>
            <a:off x="1660272" y="2371296"/>
            <a:ext cx="3506088" cy="307777"/>
          </a:xfrm>
          <a:prstGeom prst="rect">
            <a:avLst/>
          </a:prstGeom>
          <a:noFill/>
        </p:spPr>
        <p:txBody>
          <a:bodyPr wrap="none" rtlCol="1">
            <a:spAutoFit/>
          </a:bodyPr>
          <a:lstStyle/>
          <a:p>
            <a:r>
              <a:rPr lang="he-IL" sz="1400" b="1" dirty="0"/>
              <a:t>[במעט מן האור, פרשת לך </a:t>
            </a:r>
            <a:r>
              <a:rPr lang="he-IL" sz="1400" b="1" dirty="0" err="1"/>
              <a:t>לך</a:t>
            </a:r>
            <a:r>
              <a:rPr lang="he-IL" sz="1400" b="1" dirty="0"/>
              <a:t>, מאמר זה קוצר]</a:t>
            </a:r>
          </a:p>
        </p:txBody>
      </p:sp>
    </p:spTree>
    <p:extLst>
      <p:ext uri="{BB962C8B-B14F-4D97-AF65-F5344CB8AC3E}">
        <p14:creationId xmlns:p14="http://schemas.microsoft.com/office/powerpoint/2010/main" val="3340317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A357CD8F-CEA9-5C60-BF3D-D86BF2C22301}"/>
              </a:ext>
            </a:extLst>
          </p:cNvPr>
          <p:cNvPicPr>
            <a:picLocks noChangeAspect="1"/>
          </p:cNvPicPr>
          <p:nvPr/>
        </p:nvPicPr>
        <p:blipFill>
          <a:blip r:embed="rId2"/>
          <a:stretch>
            <a:fillRect/>
          </a:stretch>
        </p:blipFill>
        <p:spPr>
          <a:xfrm>
            <a:off x="7038581" y="36576"/>
            <a:ext cx="5077219" cy="6753583"/>
          </a:xfrm>
          <a:prstGeom prst="rect">
            <a:avLst/>
          </a:prstGeom>
          <a:ln>
            <a:solidFill>
              <a:schemeClr val="tx1"/>
            </a:solidFill>
          </a:ln>
        </p:spPr>
      </p:pic>
      <p:pic>
        <p:nvPicPr>
          <p:cNvPr id="5" name="תמונה 4">
            <a:extLst>
              <a:ext uri="{FF2B5EF4-FFF2-40B4-BE49-F238E27FC236}">
                <a16:creationId xmlns:a16="http://schemas.microsoft.com/office/drawing/2014/main" id="{6B962C6E-2520-FB90-F98D-5F55B2DA93E4}"/>
              </a:ext>
            </a:extLst>
          </p:cNvPr>
          <p:cNvPicPr>
            <a:picLocks noChangeAspect="1"/>
          </p:cNvPicPr>
          <p:nvPr/>
        </p:nvPicPr>
        <p:blipFill>
          <a:blip r:embed="rId3"/>
          <a:srcRect l="-1" r="1559"/>
          <a:stretch>
            <a:fillRect/>
          </a:stretch>
        </p:blipFill>
        <p:spPr>
          <a:xfrm>
            <a:off x="1930941" y="52208"/>
            <a:ext cx="4999915" cy="6753583"/>
          </a:xfrm>
          <a:prstGeom prst="rect">
            <a:avLst/>
          </a:prstGeom>
          <a:ln>
            <a:solidFill>
              <a:schemeClr val="tx1"/>
            </a:solidFill>
          </a:ln>
        </p:spPr>
      </p:pic>
      <p:sp>
        <p:nvSpPr>
          <p:cNvPr id="6" name="תיבת טקסט 5">
            <a:extLst>
              <a:ext uri="{FF2B5EF4-FFF2-40B4-BE49-F238E27FC236}">
                <a16:creationId xmlns:a16="http://schemas.microsoft.com/office/drawing/2014/main" id="{D35283D8-0B6D-472A-25F6-2FEF06C84943}"/>
              </a:ext>
            </a:extLst>
          </p:cNvPr>
          <p:cNvSpPr txBox="1"/>
          <p:nvPr/>
        </p:nvSpPr>
        <p:spPr>
          <a:xfrm>
            <a:off x="434694" y="6282571"/>
            <a:ext cx="1388522" cy="523220"/>
          </a:xfrm>
          <a:prstGeom prst="rect">
            <a:avLst/>
          </a:prstGeom>
          <a:noFill/>
        </p:spPr>
        <p:txBody>
          <a:bodyPr wrap="none" rtlCol="1">
            <a:spAutoFit/>
          </a:bodyPr>
          <a:lstStyle/>
          <a:p>
            <a:r>
              <a:rPr lang="he-IL" sz="1400" b="1" dirty="0"/>
              <a:t>מגד ירחים 131, </a:t>
            </a:r>
          </a:p>
          <a:p>
            <a:r>
              <a:rPr lang="he-IL" sz="1400" b="1" dirty="0"/>
              <a:t>אלול תש"ע</a:t>
            </a:r>
          </a:p>
        </p:txBody>
      </p:sp>
    </p:spTree>
    <p:extLst>
      <p:ext uri="{BB962C8B-B14F-4D97-AF65-F5344CB8AC3E}">
        <p14:creationId xmlns:p14="http://schemas.microsoft.com/office/powerpoint/2010/main" val="1944802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E2B25871-179B-B2E4-B5C6-98ECC51B5881}"/>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rcRect t="50000" r="54315"/>
          <a:stretch>
            <a:fillRect/>
          </a:stretch>
        </p:blipFill>
        <p:spPr>
          <a:xfrm>
            <a:off x="7472355" y="963928"/>
            <a:ext cx="3857061" cy="3212484"/>
          </a:xfrm>
          <a:prstGeom prst="rect">
            <a:avLst/>
          </a:prstGeom>
          <a:ln>
            <a:solidFill>
              <a:schemeClr val="tx1"/>
            </a:solidFill>
          </a:ln>
        </p:spPr>
      </p:pic>
      <p:pic>
        <p:nvPicPr>
          <p:cNvPr id="4" name="תמונה 3">
            <a:extLst>
              <a:ext uri="{FF2B5EF4-FFF2-40B4-BE49-F238E27FC236}">
                <a16:creationId xmlns:a16="http://schemas.microsoft.com/office/drawing/2014/main" id="{07BEDDAD-B3A7-96E1-557C-B41333E4A17C}"/>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Lst>
          </a:blip>
          <a:srcRect l="53987" t="2773" r="1109"/>
          <a:stretch>
            <a:fillRect/>
          </a:stretch>
        </p:blipFill>
        <p:spPr>
          <a:xfrm>
            <a:off x="1289304" y="120284"/>
            <a:ext cx="3837432" cy="6521200"/>
          </a:xfrm>
          <a:prstGeom prst="rect">
            <a:avLst/>
          </a:prstGeom>
          <a:ln>
            <a:solidFill>
              <a:schemeClr val="tx1"/>
            </a:solidFill>
          </a:ln>
        </p:spPr>
      </p:pic>
      <p:sp>
        <p:nvSpPr>
          <p:cNvPr id="6" name="תיבת טקסט 5">
            <a:extLst>
              <a:ext uri="{FF2B5EF4-FFF2-40B4-BE49-F238E27FC236}">
                <a16:creationId xmlns:a16="http://schemas.microsoft.com/office/drawing/2014/main" id="{89F5F4F5-B8B7-C85D-2D56-D1412B577FF2}"/>
              </a:ext>
            </a:extLst>
          </p:cNvPr>
          <p:cNvSpPr txBox="1"/>
          <p:nvPr/>
        </p:nvSpPr>
        <p:spPr>
          <a:xfrm>
            <a:off x="7825774" y="365760"/>
            <a:ext cx="3150222" cy="338554"/>
          </a:xfrm>
          <a:prstGeom prst="rect">
            <a:avLst/>
          </a:prstGeom>
          <a:solidFill>
            <a:srgbClr val="FFFF00"/>
          </a:solidFill>
          <a:ln>
            <a:solidFill>
              <a:schemeClr val="tx1"/>
            </a:solidFill>
          </a:ln>
        </p:spPr>
        <p:txBody>
          <a:bodyPr wrap="none" rtlCol="1">
            <a:spAutoFit/>
          </a:bodyPr>
          <a:lstStyle/>
          <a:p>
            <a:r>
              <a:rPr lang="he-IL" sz="1600" b="1" dirty="0"/>
              <a:t>אברהם אבינו – העולה הראשון לארץ</a:t>
            </a:r>
          </a:p>
        </p:txBody>
      </p:sp>
    </p:spTree>
    <p:extLst>
      <p:ext uri="{BB962C8B-B14F-4D97-AF65-F5344CB8AC3E}">
        <p14:creationId xmlns:p14="http://schemas.microsoft.com/office/powerpoint/2010/main" val="1540612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F44557B8-0F15-A026-0A7D-2FED22F8A9F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rcRect l="557" t="2773" r="53529"/>
          <a:stretch>
            <a:fillRect/>
          </a:stretch>
        </p:blipFill>
        <p:spPr>
          <a:xfrm>
            <a:off x="7144873" y="119252"/>
            <a:ext cx="3867551" cy="6427852"/>
          </a:xfrm>
          <a:prstGeom prst="rect">
            <a:avLst/>
          </a:prstGeom>
          <a:ln>
            <a:solidFill>
              <a:schemeClr val="tx1"/>
            </a:solidFill>
          </a:ln>
        </p:spPr>
      </p:pic>
      <p:pic>
        <p:nvPicPr>
          <p:cNvPr id="7" name="תמונה 6">
            <a:extLst>
              <a:ext uri="{FF2B5EF4-FFF2-40B4-BE49-F238E27FC236}">
                <a16:creationId xmlns:a16="http://schemas.microsoft.com/office/drawing/2014/main" id="{B34E95D7-7C08-4936-BE68-8D09DD87860E}"/>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Lst>
          </a:blip>
          <a:srcRect l="53733" t="3148" r="1161" b="64826"/>
          <a:stretch>
            <a:fillRect/>
          </a:stretch>
        </p:blipFill>
        <p:spPr>
          <a:xfrm>
            <a:off x="1335024" y="87910"/>
            <a:ext cx="3782328" cy="2146243"/>
          </a:xfrm>
          <a:prstGeom prst="rect">
            <a:avLst/>
          </a:prstGeom>
          <a:ln>
            <a:solidFill>
              <a:schemeClr val="tx1"/>
            </a:solidFill>
          </a:ln>
        </p:spPr>
      </p:pic>
      <p:sp>
        <p:nvSpPr>
          <p:cNvPr id="9" name="תיבת טקסט 8">
            <a:extLst>
              <a:ext uri="{FF2B5EF4-FFF2-40B4-BE49-F238E27FC236}">
                <a16:creationId xmlns:a16="http://schemas.microsoft.com/office/drawing/2014/main" id="{317EF7AD-D9DE-433B-868B-FD3798BB72BB}"/>
              </a:ext>
            </a:extLst>
          </p:cNvPr>
          <p:cNvSpPr txBox="1"/>
          <p:nvPr/>
        </p:nvSpPr>
        <p:spPr>
          <a:xfrm>
            <a:off x="1006333" y="2234153"/>
            <a:ext cx="4305188" cy="523220"/>
          </a:xfrm>
          <a:prstGeom prst="rect">
            <a:avLst/>
          </a:prstGeom>
          <a:noFill/>
        </p:spPr>
        <p:txBody>
          <a:bodyPr wrap="square">
            <a:spAutoFit/>
          </a:bodyPr>
          <a:lstStyle/>
          <a:p>
            <a:r>
              <a:rPr lang="he-IL" sz="1400" b="1" dirty="0">
                <a:effectLst/>
                <a:ea typeface="Aptos" panose="020B0004020202020204" pitchFamily="34" charset="0"/>
              </a:rPr>
              <a:t>חנן פורת, את ענת אנכי מבקש: צרור מכתבים ומאמרים, עמ’</a:t>
            </a:r>
            <a:r>
              <a:rPr lang="en-US" sz="1400" b="1" dirty="0">
                <a:effectLst/>
                <a:ea typeface="Aptos" panose="020B0004020202020204" pitchFamily="34" charset="0"/>
              </a:rPr>
              <a:t>116-120</a:t>
            </a:r>
            <a:r>
              <a:rPr lang="en-US" sz="1400" b="1" dirty="0">
                <a:effectLst/>
                <a:latin typeface="David" panose="020E0502060401010101" pitchFamily="34" charset="-79"/>
                <a:ea typeface="Aptos" panose="020B0004020202020204" pitchFamily="34" charset="0"/>
              </a:rPr>
              <a:t> </a:t>
            </a:r>
            <a:endParaRPr lang="he-IL" sz="1400" dirty="0"/>
          </a:p>
        </p:txBody>
      </p:sp>
    </p:spTree>
    <p:extLst>
      <p:ext uri="{BB962C8B-B14F-4D97-AF65-F5344CB8AC3E}">
        <p14:creationId xmlns:p14="http://schemas.microsoft.com/office/powerpoint/2010/main" val="1833173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DD4D354-E53C-09AA-8C53-11C1685A7B40}"/>
              </a:ext>
            </a:extLst>
          </p:cNvPr>
          <p:cNvPicPr>
            <a:picLocks noChangeAspect="1"/>
          </p:cNvPicPr>
          <p:nvPr/>
        </p:nvPicPr>
        <p:blipFill>
          <a:blip r:embed="rId2">
            <a:biLevel thresh="75000"/>
            <a:extLst>
              <a:ext uri="{28A0092B-C50C-407E-A947-70E740481C1C}">
                <a14:useLocalDpi xmlns:a14="http://schemas.microsoft.com/office/drawing/2010/main" val="0"/>
              </a:ext>
            </a:extLst>
          </a:blip>
          <a:srcRect l="32723" t="15278" r="12894" b="42639"/>
          <a:stretch>
            <a:fillRect/>
          </a:stretch>
        </p:blipFill>
        <p:spPr>
          <a:xfrm>
            <a:off x="3004144" y="206502"/>
            <a:ext cx="5495586" cy="6011418"/>
          </a:xfrm>
          <a:prstGeom prst="rect">
            <a:avLst/>
          </a:prstGeom>
          <a:ln>
            <a:solidFill>
              <a:schemeClr val="tx1"/>
            </a:solidFill>
          </a:ln>
        </p:spPr>
      </p:pic>
      <p:sp>
        <p:nvSpPr>
          <p:cNvPr id="5" name="תיבת טקסט 32">
            <a:extLst>
              <a:ext uri="{FF2B5EF4-FFF2-40B4-BE49-F238E27FC236}">
                <a16:creationId xmlns:a16="http://schemas.microsoft.com/office/drawing/2014/main" id="{892B8AD0-26A6-8BD0-4629-7B6D615484F9}"/>
              </a:ext>
            </a:extLst>
          </p:cNvPr>
          <p:cNvSpPr txBox="1"/>
          <p:nvPr/>
        </p:nvSpPr>
        <p:spPr>
          <a:xfrm>
            <a:off x="2797790" y="6241923"/>
            <a:ext cx="5908294" cy="409575"/>
          </a:xfrm>
          <a:prstGeom prst="rect">
            <a:avLst/>
          </a:prstGeom>
          <a:solidFill>
            <a:sysClr val="window" lastClr="FFFFFF"/>
          </a:solid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    עודד מזרחי, רציתי להיות טוב: לקט סיפורים על חנן פורת, ראש יהודי, עמ' 71</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114334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תיבת טקסט 7">
            <a:extLst>
              <a:ext uri="{FF2B5EF4-FFF2-40B4-BE49-F238E27FC236}">
                <a16:creationId xmlns:a16="http://schemas.microsoft.com/office/drawing/2014/main" id="{FCE7457B-A959-FD98-7386-0DE17B9FE7CD}"/>
              </a:ext>
            </a:extLst>
          </p:cNvPr>
          <p:cNvSpPr txBox="1"/>
          <p:nvPr/>
        </p:nvSpPr>
        <p:spPr>
          <a:xfrm>
            <a:off x="4263132" y="390765"/>
            <a:ext cx="2919390" cy="338554"/>
          </a:xfrm>
          <a:prstGeom prst="rect">
            <a:avLst/>
          </a:prstGeom>
          <a:solidFill>
            <a:srgbClr val="FFFF00"/>
          </a:solidFill>
          <a:ln>
            <a:solidFill>
              <a:schemeClr val="tx1"/>
            </a:solidFill>
          </a:ln>
        </p:spPr>
        <p:txBody>
          <a:bodyPr wrap="none" rtlCol="1">
            <a:spAutoFit/>
          </a:bodyPr>
          <a:lstStyle/>
          <a:p>
            <a:r>
              <a:rPr lang="he-IL" sz="1600" b="1" dirty="0"/>
              <a:t>"קיבוץ גלויות – הוא מפעל אלוקי"</a:t>
            </a:r>
          </a:p>
        </p:txBody>
      </p:sp>
      <p:pic>
        <p:nvPicPr>
          <p:cNvPr id="12" name="תמונה 11">
            <a:extLst>
              <a:ext uri="{FF2B5EF4-FFF2-40B4-BE49-F238E27FC236}">
                <a16:creationId xmlns:a16="http://schemas.microsoft.com/office/drawing/2014/main" id="{716007F4-1B98-84A6-8457-3CF4A74F8FDD}"/>
              </a:ext>
            </a:extLst>
          </p:cNvPr>
          <p:cNvPicPr>
            <a:picLocks noChangeAspect="1"/>
          </p:cNvPicPr>
          <p:nvPr/>
        </p:nvPicPr>
        <p:blipFill>
          <a:blip r:embed="rId2"/>
          <a:srcRect t="66924" b="9487"/>
          <a:stretch>
            <a:fillRect/>
          </a:stretch>
        </p:blipFill>
        <p:spPr>
          <a:xfrm>
            <a:off x="2658730" y="4722480"/>
            <a:ext cx="6128194" cy="1409687"/>
          </a:xfrm>
          <a:prstGeom prst="rect">
            <a:avLst/>
          </a:prstGeom>
          <a:ln>
            <a:solidFill>
              <a:schemeClr val="tx1"/>
            </a:solidFill>
          </a:ln>
        </p:spPr>
      </p:pic>
      <p:sp>
        <p:nvSpPr>
          <p:cNvPr id="13" name="תיבת טקסט 12">
            <a:extLst>
              <a:ext uri="{FF2B5EF4-FFF2-40B4-BE49-F238E27FC236}">
                <a16:creationId xmlns:a16="http://schemas.microsoft.com/office/drawing/2014/main" id="{8EB1D9AA-4DAF-3470-AC68-33533E6C34CC}"/>
              </a:ext>
            </a:extLst>
          </p:cNvPr>
          <p:cNvSpPr txBox="1"/>
          <p:nvPr/>
        </p:nvSpPr>
        <p:spPr>
          <a:xfrm>
            <a:off x="2530702" y="6159458"/>
            <a:ext cx="2635658" cy="307777"/>
          </a:xfrm>
          <a:prstGeom prst="rect">
            <a:avLst/>
          </a:prstGeom>
          <a:noFill/>
        </p:spPr>
        <p:txBody>
          <a:bodyPr wrap="none" rtlCol="1">
            <a:spAutoFit/>
          </a:bodyPr>
          <a:lstStyle/>
          <a:p>
            <a:r>
              <a:rPr lang="he-IL" sz="1400" b="1" dirty="0"/>
              <a:t>חנן פורת, תנ"ך שבעל פה, עמ' 31</a:t>
            </a:r>
          </a:p>
        </p:txBody>
      </p:sp>
      <p:sp>
        <p:nvSpPr>
          <p:cNvPr id="15" name="תיבת טקסט 14">
            <a:extLst>
              <a:ext uri="{FF2B5EF4-FFF2-40B4-BE49-F238E27FC236}">
                <a16:creationId xmlns:a16="http://schemas.microsoft.com/office/drawing/2014/main" id="{0A03DD7A-74CE-FDED-13AA-5453846AB56E}"/>
              </a:ext>
            </a:extLst>
          </p:cNvPr>
          <p:cNvSpPr txBox="1"/>
          <p:nvPr/>
        </p:nvSpPr>
        <p:spPr>
          <a:xfrm>
            <a:off x="2144511" y="1389888"/>
            <a:ext cx="1487496" cy="369332"/>
          </a:xfrm>
          <a:prstGeom prst="rect">
            <a:avLst/>
          </a:prstGeom>
          <a:solidFill>
            <a:schemeClr val="bg1"/>
          </a:solidFill>
        </p:spPr>
        <p:txBody>
          <a:bodyPr wrap="square" rtlCol="1">
            <a:spAutoFit/>
          </a:bodyPr>
          <a:lstStyle/>
          <a:p>
            <a:endParaRPr lang="he-IL" dirty="0"/>
          </a:p>
        </p:txBody>
      </p:sp>
      <p:sp>
        <p:nvSpPr>
          <p:cNvPr id="17" name="תיבת טקסט 16">
            <a:extLst>
              <a:ext uri="{FF2B5EF4-FFF2-40B4-BE49-F238E27FC236}">
                <a16:creationId xmlns:a16="http://schemas.microsoft.com/office/drawing/2014/main" id="{EEF6DE1D-2E8E-63DB-0642-492213B948B7}"/>
              </a:ext>
            </a:extLst>
          </p:cNvPr>
          <p:cNvSpPr txBox="1"/>
          <p:nvPr/>
        </p:nvSpPr>
        <p:spPr>
          <a:xfrm>
            <a:off x="6466575" y="2822448"/>
            <a:ext cx="1487496" cy="369332"/>
          </a:xfrm>
          <a:prstGeom prst="rect">
            <a:avLst/>
          </a:prstGeom>
          <a:solidFill>
            <a:schemeClr val="bg1"/>
          </a:solidFill>
        </p:spPr>
        <p:txBody>
          <a:bodyPr wrap="square" rtlCol="1">
            <a:spAutoFit/>
          </a:bodyPr>
          <a:lstStyle/>
          <a:p>
            <a:endParaRPr lang="he-IL" dirty="0"/>
          </a:p>
        </p:txBody>
      </p:sp>
      <p:sp>
        <p:nvSpPr>
          <p:cNvPr id="19" name="תיבת טקסט 18">
            <a:extLst>
              <a:ext uri="{FF2B5EF4-FFF2-40B4-BE49-F238E27FC236}">
                <a16:creationId xmlns:a16="http://schemas.microsoft.com/office/drawing/2014/main" id="{57A3FA99-6B93-DAC1-3951-085EE99C0257}"/>
              </a:ext>
            </a:extLst>
          </p:cNvPr>
          <p:cNvSpPr txBox="1"/>
          <p:nvPr/>
        </p:nvSpPr>
        <p:spPr>
          <a:xfrm>
            <a:off x="5722827" y="3809250"/>
            <a:ext cx="1487496" cy="369332"/>
          </a:xfrm>
          <a:prstGeom prst="rect">
            <a:avLst/>
          </a:prstGeom>
          <a:solidFill>
            <a:schemeClr val="bg1"/>
          </a:solidFill>
        </p:spPr>
        <p:txBody>
          <a:bodyPr wrap="square" rtlCol="1">
            <a:spAutoFit/>
          </a:bodyPr>
          <a:lstStyle/>
          <a:p>
            <a:endParaRPr lang="he-IL" dirty="0"/>
          </a:p>
        </p:txBody>
      </p:sp>
      <p:pic>
        <p:nvPicPr>
          <p:cNvPr id="21" name="תמונה 20">
            <a:extLst>
              <a:ext uri="{FF2B5EF4-FFF2-40B4-BE49-F238E27FC236}">
                <a16:creationId xmlns:a16="http://schemas.microsoft.com/office/drawing/2014/main" id="{86CA320D-5A63-4344-97A4-286A9003311C}"/>
              </a:ext>
            </a:extLst>
          </p:cNvPr>
          <p:cNvPicPr>
            <a:picLocks noChangeAspect="1"/>
          </p:cNvPicPr>
          <p:nvPr/>
        </p:nvPicPr>
        <p:blipFill>
          <a:blip r:embed="rId3"/>
          <a:stretch>
            <a:fillRect/>
          </a:stretch>
        </p:blipFill>
        <p:spPr>
          <a:xfrm>
            <a:off x="888215" y="920750"/>
            <a:ext cx="9669224" cy="3524742"/>
          </a:xfrm>
          <a:prstGeom prst="rect">
            <a:avLst/>
          </a:prstGeom>
        </p:spPr>
      </p:pic>
    </p:spTree>
    <p:extLst>
      <p:ext uri="{BB962C8B-B14F-4D97-AF65-F5344CB8AC3E}">
        <p14:creationId xmlns:p14="http://schemas.microsoft.com/office/powerpoint/2010/main" val="3020313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80313AC4-F1C1-430D-5EF3-9691C390CDFE}"/>
              </a:ext>
            </a:extLst>
          </p:cNvPr>
          <p:cNvPicPr>
            <a:picLocks noChangeAspect="1"/>
          </p:cNvPicPr>
          <p:nvPr/>
        </p:nvPicPr>
        <p:blipFill>
          <a:blip r:embed="rId2"/>
          <a:stretch>
            <a:fillRect/>
          </a:stretch>
        </p:blipFill>
        <p:spPr>
          <a:xfrm>
            <a:off x="2833441" y="161906"/>
            <a:ext cx="6525118" cy="6351308"/>
          </a:xfrm>
          <a:prstGeom prst="rect">
            <a:avLst/>
          </a:prstGeom>
          <a:ln>
            <a:solidFill>
              <a:schemeClr val="tx1"/>
            </a:solidFill>
          </a:ln>
        </p:spPr>
      </p:pic>
    </p:spTree>
    <p:extLst>
      <p:ext uri="{BB962C8B-B14F-4D97-AF65-F5344CB8AC3E}">
        <p14:creationId xmlns:p14="http://schemas.microsoft.com/office/powerpoint/2010/main" val="869245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18E8B795-F85C-4442-6F5C-5314CE7A849A}"/>
              </a:ext>
            </a:extLst>
          </p:cNvPr>
          <p:cNvPicPr>
            <a:picLocks noChangeAspect="1"/>
          </p:cNvPicPr>
          <p:nvPr/>
        </p:nvPicPr>
        <p:blipFill>
          <a:blip r:embed="rId2"/>
          <a:stretch>
            <a:fillRect/>
          </a:stretch>
        </p:blipFill>
        <p:spPr>
          <a:xfrm>
            <a:off x="2803429" y="238790"/>
            <a:ext cx="6585142" cy="6518625"/>
          </a:xfrm>
          <a:prstGeom prst="rect">
            <a:avLst/>
          </a:prstGeom>
          <a:ln>
            <a:solidFill>
              <a:schemeClr val="tx1"/>
            </a:solidFill>
          </a:ln>
        </p:spPr>
      </p:pic>
    </p:spTree>
    <p:extLst>
      <p:ext uri="{BB962C8B-B14F-4D97-AF65-F5344CB8AC3E}">
        <p14:creationId xmlns:p14="http://schemas.microsoft.com/office/powerpoint/2010/main" val="629738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83B38B1-FE82-F5B6-A353-51DF934B139C}"/>
              </a:ext>
            </a:extLst>
          </p:cNvPr>
          <p:cNvPicPr>
            <a:picLocks noChangeAspect="1"/>
          </p:cNvPicPr>
          <p:nvPr/>
        </p:nvPicPr>
        <p:blipFill>
          <a:blip r:embed="rId2"/>
          <a:stretch>
            <a:fillRect/>
          </a:stretch>
        </p:blipFill>
        <p:spPr>
          <a:xfrm>
            <a:off x="1973763" y="272376"/>
            <a:ext cx="8244474" cy="5900914"/>
          </a:xfrm>
          <a:prstGeom prst="rect">
            <a:avLst/>
          </a:prstGeom>
          <a:ln>
            <a:solidFill>
              <a:schemeClr val="tx1"/>
            </a:solidFill>
          </a:ln>
        </p:spPr>
      </p:pic>
      <p:sp>
        <p:nvSpPr>
          <p:cNvPr id="4" name="תיבת טקסט 3">
            <a:extLst>
              <a:ext uri="{FF2B5EF4-FFF2-40B4-BE49-F238E27FC236}">
                <a16:creationId xmlns:a16="http://schemas.microsoft.com/office/drawing/2014/main" id="{D7B8E9C9-7F57-B8A1-5B72-C582C7082159}"/>
              </a:ext>
            </a:extLst>
          </p:cNvPr>
          <p:cNvSpPr txBox="1"/>
          <p:nvPr/>
        </p:nvSpPr>
        <p:spPr>
          <a:xfrm>
            <a:off x="1854875" y="6173290"/>
            <a:ext cx="2031325" cy="307777"/>
          </a:xfrm>
          <a:prstGeom prst="rect">
            <a:avLst/>
          </a:prstGeom>
          <a:noFill/>
        </p:spPr>
        <p:txBody>
          <a:bodyPr wrap="none" rtlCol="1">
            <a:spAutoFit/>
          </a:bodyPr>
          <a:lstStyle/>
          <a:p>
            <a:r>
              <a:rPr lang="he-IL" sz="1400" b="1" dirty="0"/>
              <a:t>מעט מן האור, פרשת בהר</a:t>
            </a:r>
          </a:p>
        </p:txBody>
      </p:sp>
    </p:spTree>
    <p:extLst>
      <p:ext uri="{BB962C8B-B14F-4D97-AF65-F5344CB8AC3E}">
        <p14:creationId xmlns:p14="http://schemas.microsoft.com/office/powerpoint/2010/main" val="667983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9F960737-49C6-AFD6-B37A-EF3B4E101E1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359" t="2540" r="47387" b="59789"/>
          <a:stretch>
            <a:fillRect/>
          </a:stretch>
        </p:blipFill>
        <p:spPr bwMode="auto">
          <a:xfrm rot="5400000">
            <a:off x="3647725" y="-498309"/>
            <a:ext cx="4896551" cy="6524234"/>
          </a:xfrm>
          <a:prstGeom prst="rect">
            <a:avLst/>
          </a:prstGeom>
          <a:noFill/>
          <a:ln>
            <a:solidFill>
              <a:schemeClr val="tx1"/>
            </a:solidFill>
          </a:ln>
          <a:extLst>
            <a:ext uri="{53640926-AAD7-44D8-BBD7-CCE9431645EC}">
              <a14:shadowObscured xmlns:a14="http://schemas.microsoft.com/office/drawing/2010/main"/>
            </a:ext>
          </a:extLst>
        </p:spPr>
      </p:pic>
      <p:sp>
        <p:nvSpPr>
          <p:cNvPr id="3" name="תיבת טקסט 32">
            <a:extLst>
              <a:ext uri="{FF2B5EF4-FFF2-40B4-BE49-F238E27FC236}">
                <a16:creationId xmlns:a16="http://schemas.microsoft.com/office/drawing/2014/main" id="{2AB259A2-7119-8429-D3D9-0F26E90017B7}"/>
              </a:ext>
            </a:extLst>
          </p:cNvPr>
          <p:cNvSpPr txBox="1"/>
          <p:nvPr/>
        </p:nvSpPr>
        <p:spPr>
          <a:xfrm>
            <a:off x="2606929" y="5280597"/>
            <a:ext cx="5267325" cy="409575"/>
          </a:xfrm>
          <a:prstGeom prst="rect">
            <a:avLst/>
          </a:prstGeom>
          <a:solidFill>
            <a:sysClr val="window" lastClr="FFFFFF"/>
          </a:solid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    עודד מזרחי, רציתי להיות טוב: לקט סיפורים על חנן פורת, עמ' 128</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290634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5DEDCA8D-139E-3340-EEA1-8E302EB26822}"/>
              </a:ext>
            </a:extLst>
          </p:cNvPr>
          <p:cNvPicPr>
            <a:picLocks noChangeAspect="1"/>
          </p:cNvPicPr>
          <p:nvPr/>
        </p:nvPicPr>
        <p:blipFill>
          <a:blip r:embed="rId2"/>
          <a:srcRect r="2466"/>
          <a:stretch>
            <a:fillRect/>
          </a:stretch>
        </p:blipFill>
        <p:spPr>
          <a:xfrm>
            <a:off x="2759190" y="2585147"/>
            <a:ext cx="6673620" cy="1543695"/>
          </a:xfrm>
          <a:prstGeom prst="rect">
            <a:avLst/>
          </a:prstGeom>
          <a:ln>
            <a:solidFill>
              <a:schemeClr val="tx1"/>
            </a:solidFill>
          </a:ln>
        </p:spPr>
      </p:pic>
      <p:pic>
        <p:nvPicPr>
          <p:cNvPr id="7" name="תמונה 6">
            <a:extLst>
              <a:ext uri="{FF2B5EF4-FFF2-40B4-BE49-F238E27FC236}">
                <a16:creationId xmlns:a16="http://schemas.microsoft.com/office/drawing/2014/main" id="{D0696B25-AABF-F909-B417-F7207A667970}"/>
              </a:ext>
            </a:extLst>
          </p:cNvPr>
          <p:cNvPicPr>
            <a:picLocks noChangeAspect="1"/>
          </p:cNvPicPr>
          <p:nvPr/>
        </p:nvPicPr>
        <p:blipFill>
          <a:blip r:embed="rId3"/>
          <a:srcRect l="2663"/>
          <a:stretch>
            <a:fillRect/>
          </a:stretch>
        </p:blipFill>
        <p:spPr>
          <a:xfrm>
            <a:off x="2759190" y="4128842"/>
            <a:ext cx="6673620" cy="1501973"/>
          </a:xfrm>
          <a:prstGeom prst="rect">
            <a:avLst/>
          </a:prstGeom>
          <a:ln>
            <a:solidFill>
              <a:schemeClr val="tx1"/>
            </a:solidFill>
          </a:ln>
        </p:spPr>
      </p:pic>
      <p:sp>
        <p:nvSpPr>
          <p:cNvPr id="9" name="תיבת טקסט 8">
            <a:extLst>
              <a:ext uri="{FF2B5EF4-FFF2-40B4-BE49-F238E27FC236}">
                <a16:creationId xmlns:a16="http://schemas.microsoft.com/office/drawing/2014/main" id="{085C8068-1B72-F680-566F-671BE13AA9C0}"/>
              </a:ext>
            </a:extLst>
          </p:cNvPr>
          <p:cNvSpPr txBox="1"/>
          <p:nvPr/>
        </p:nvSpPr>
        <p:spPr>
          <a:xfrm>
            <a:off x="2658174" y="5630815"/>
            <a:ext cx="1705916" cy="307777"/>
          </a:xfrm>
          <a:prstGeom prst="rect">
            <a:avLst/>
          </a:prstGeom>
          <a:noFill/>
        </p:spPr>
        <p:txBody>
          <a:bodyPr wrap="none" rtlCol="1">
            <a:spAutoFit/>
          </a:bodyPr>
          <a:lstStyle/>
          <a:p>
            <a:r>
              <a:rPr lang="he-IL" sz="1400" b="1" dirty="0"/>
              <a:t>גדליה </a:t>
            </a:r>
            <a:r>
              <a:rPr lang="he-IL" sz="1400" b="1" dirty="0" err="1"/>
              <a:t>גנצבורג</a:t>
            </a:r>
            <a:r>
              <a:rPr lang="he-IL" sz="1400" b="1" dirty="0"/>
              <a:t>, אסיף</a:t>
            </a:r>
          </a:p>
        </p:txBody>
      </p:sp>
      <p:sp>
        <p:nvSpPr>
          <p:cNvPr id="11" name="תיבת טקסט 10">
            <a:extLst>
              <a:ext uri="{FF2B5EF4-FFF2-40B4-BE49-F238E27FC236}">
                <a16:creationId xmlns:a16="http://schemas.microsoft.com/office/drawing/2014/main" id="{C5E2CB76-463E-4A78-D099-581C5067DBD2}"/>
              </a:ext>
            </a:extLst>
          </p:cNvPr>
          <p:cNvSpPr txBox="1"/>
          <p:nvPr/>
        </p:nvSpPr>
        <p:spPr>
          <a:xfrm>
            <a:off x="749808" y="327526"/>
            <a:ext cx="11091672" cy="1703030"/>
          </a:xfrm>
          <a:prstGeom prst="rect">
            <a:avLst/>
          </a:prstGeom>
          <a:solidFill>
            <a:srgbClr val="FFFF00"/>
          </a:solidFill>
          <a:ln>
            <a:solidFill>
              <a:schemeClr val="tx1"/>
            </a:solidFill>
          </a:ln>
        </p:spPr>
        <p:txBody>
          <a:bodyPr wrap="square">
            <a:spAutoFit/>
          </a:bodyPr>
          <a:lstStyle/>
          <a:p>
            <a:pPr algn="just" rtl="1">
              <a:lnSpc>
                <a:spcPct val="100000"/>
              </a:lnSpc>
              <a:spcAft>
                <a:spcPts val="800"/>
              </a:spcAft>
              <a:buNone/>
            </a:pPr>
            <a:r>
              <a:rPr lang="he-IL" sz="1400" b="1" kern="100" dirty="0">
                <a:solidFill>
                  <a:srgbClr val="FF0000"/>
                </a:solidFill>
                <a:effectLst/>
                <a:latin typeface="+mn-lt"/>
                <a:ea typeface="Aptos" panose="020B0004020202020204" pitchFamily="34" charset="0"/>
                <a:cs typeface="David" panose="020E0502060401010101" pitchFamily="34" charset="-79"/>
              </a:rPr>
              <a:t>חנוכה, טבת תשל"ח, 1977 – </a:t>
            </a:r>
            <a:r>
              <a:rPr lang="he-IL" sz="1400" b="1" kern="100" dirty="0">
                <a:effectLst/>
                <a:latin typeface="+mn-lt"/>
                <a:ea typeface="Aptos" panose="020B0004020202020204" pitchFamily="34" charset="0"/>
                <a:cs typeface="David" panose="020E0502060401010101" pitchFamily="34" charset="-79"/>
              </a:rPr>
              <a:t>לראשונה יצא את הארץ. התכבד בהדלקת </a:t>
            </a:r>
            <a:r>
              <a:rPr lang="he-IL" sz="1400" b="1" kern="100" dirty="0" err="1">
                <a:effectLst/>
                <a:latin typeface="+mn-lt"/>
                <a:ea typeface="Aptos" panose="020B0004020202020204" pitchFamily="34" charset="0"/>
                <a:cs typeface="David" panose="020E0502060401010101" pitchFamily="34" charset="-79"/>
              </a:rPr>
              <a:t>חנוכיה</a:t>
            </a:r>
            <a:r>
              <a:rPr lang="he-IL" sz="1400" b="1" kern="100" dirty="0">
                <a:effectLst/>
                <a:latin typeface="+mn-lt"/>
                <a:ea typeface="Aptos" panose="020B0004020202020204" pitchFamily="34" charset="0"/>
                <a:cs typeface="David" panose="020E0502060401010101" pitchFamily="34" charset="-79"/>
              </a:rPr>
              <a:t> ענקית (עלה להדלקה באמצעות מנוף), בכיכר המרכזית בסן פרנסיסקו שבארה"ב. הוא ריגש בדבריו את כל הקהל היהודי הרב שהתכנס במקום. בשבת השתתף בשבתון של בני עקיבא בהשתתפות 200 נערים ונערות. הוא סחף אותם בלהט הציוני שלו והשרה אווירה תורנית מיוחדת. בסעודה שלישית נאם בהתלהבות רבה בפני 700 אורחים על החובה לעלות לארץ.</a:t>
            </a:r>
            <a:endParaRPr lang="en-US" sz="1400" b="1" kern="100" dirty="0">
              <a:effectLst/>
              <a:latin typeface="+mn-lt"/>
              <a:ea typeface="Aptos" panose="020B0004020202020204" pitchFamily="34" charset="0"/>
              <a:cs typeface="Arial" panose="020B0604020202020204" pitchFamily="34" charset="0"/>
            </a:endParaRPr>
          </a:p>
          <a:p>
            <a:pPr algn="just" rtl="1">
              <a:lnSpc>
                <a:spcPct val="100000"/>
              </a:lnSpc>
              <a:spcAft>
                <a:spcPts val="800"/>
              </a:spcAft>
              <a:buNone/>
            </a:pPr>
            <a:r>
              <a:rPr lang="he-IL" sz="1400" b="1" kern="100" dirty="0">
                <a:effectLst/>
                <a:latin typeface="+mn-lt"/>
                <a:ea typeface="Aptos" panose="020B0004020202020204" pitchFamily="34" charset="0"/>
                <a:cs typeface="David" panose="020E0502060401010101" pitchFamily="34" charset="-79"/>
              </a:rPr>
              <a:t>טס יחד עם צבי סלונים לסאן-פרנציסקו שבארה"ב (כנ"ל) בשליחות 'גוש אמונים'. כאשר נודע להם שראש הממשלה, מנחם בגין, נמצא בניו-יורק, בדרכו לשיחות השלום עם הנשיא קרטר בוושינגטון, עלו השניים על המטוס הראשון שהזדמן, במטרה להיפגש אתו ולהשפיע עליו שלא ימסור את יהודה ושומרון תמורת 'הסכם שלום' עם מצרים. לאחר מאמצים רבים, ללא תאום מראש, הם הצליחו להיפגש אתו בלילה בבית המלון '</a:t>
            </a:r>
            <a:r>
              <a:rPr lang="he-IL" sz="1400" b="1" kern="100" dirty="0" err="1">
                <a:effectLst/>
                <a:latin typeface="+mn-lt"/>
                <a:ea typeface="Aptos" panose="020B0004020202020204" pitchFamily="34" charset="0"/>
                <a:cs typeface="David" panose="020E0502060401010101" pitchFamily="34" charset="-79"/>
              </a:rPr>
              <a:t>וולדורף</a:t>
            </a:r>
            <a:r>
              <a:rPr lang="he-IL" sz="1400" b="1" kern="100" dirty="0">
                <a:effectLst/>
                <a:latin typeface="+mn-lt"/>
                <a:ea typeface="Aptos" panose="020B0004020202020204" pitchFamily="34" charset="0"/>
                <a:cs typeface="David" panose="020E0502060401010101" pitchFamily="34" charset="-79"/>
              </a:rPr>
              <a:t> </a:t>
            </a:r>
            <a:r>
              <a:rPr lang="he-IL" sz="1400" b="1" kern="100" dirty="0" err="1">
                <a:effectLst/>
                <a:latin typeface="+mn-lt"/>
                <a:ea typeface="Aptos" panose="020B0004020202020204" pitchFamily="34" charset="0"/>
                <a:cs typeface="David" panose="020E0502060401010101" pitchFamily="34" charset="-79"/>
              </a:rPr>
              <a:t>אסטוריה</a:t>
            </a:r>
            <a:r>
              <a:rPr lang="he-IL" sz="1400" b="1" kern="100" dirty="0">
                <a:effectLst/>
                <a:latin typeface="+mn-lt"/>
                <a:ea typeface="Aptos" panose="020B0004020202020204" pitchFamily="34" charset="0"/>
                <a:cs typeface="David" panose="020E0502060401010101" pitchFamily="34" charset="-79"/>
              </a:rPr>
              <a:t>'. הפגישה </a:t>
            </a:r>
            <a:r>
              <a:rPr lang="he-IL" sz="1400" b="1" kern="100" dirty="0" err="1">
                <a:effectLst/>
                <a:latin typeface="+mn-lt"/>
                <a:ea typeface="Aptos" panose="020B0004020202020204" pitchFamily="34" charset="0"/>
                <a:cs typeface="David" panose="020E0502060401010101" pitchFamily="34" charset="-79"/>
              </a:rPr>
              <a:t>היתה</a:t>
            </a:r>
            <a:r>
              <a:rPr lang="he-IL" sz="1400" b="1" kern="100" dirty="0">
                <a:effectLst/>
                <a:latin typeface="+mn-lt"/>
                <a:ea typeface="Aptos" panose="020B0004020202020204" pitchFamily="34" charset="0"/>
                <a:cs typeface="David" panose="020E0502060401010101" pitchFamily="34" charset="-79"/>
              </a:rPr>
              <a:t> טעונה וסוערת, הוא לא השתכנע מדבריהם. בהמשך הם ביקרו במספר קהילות לצורכי הסברה ועידוד העלייה לארץ.</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382244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4F6C9DBE-EB42-E55B-A4DA-5CA2E7EE7AE0}"/>
              </a:ext>
            </a:extLst>
          </p:cNvPr>
          <p:cNvPicPr>
            <a:picLocks noChangeAspect="1"/>
          </p:cNvPicPr>
          <p:nvPr/>
        </p:nvPicPr>
        <p:blipFill>
          <a:blip r:embed="rId2">
            <a:extLst>
              <a:ext uri="{28A0092B-C50C-407E-A947-70E740481C1C}">
                <a14:useLocalDpi xmlns:a14="http://schemas.microsoft.com/office/drawing/2010/main" val="0"/>
              </a:ext>
            </a:extLst>
          </a:blip>
          <a:srcRect l="26441" t="5000" r="20794" b="61834"/>
          <a:stretch>
            <a:fillRect/>
          </a:stretch>
        </p:blipFill>
        <p:spPr>
          <a:xfrm rot="10800000">
            <a:off x="6728682" y="329183"/>
            <a:ext cx="5097145" cy="4528947"/>
          </a:xfrm>
          <a:prstGeom prst="rect">
            <a:avLst/>
          </a:prstGeom>
          <a:ln>
            <a:solidFill>
              <a:schemeClr val="tx1"/>
            </a:solidFill>
          </a:ln>
        </p:spPr>
      </p:pic>
      <p:pic>
        <p:nvPicPr>
          <p:cNvPr id="5" name="תמונה 4">
            <a:extLst>
              <a:ext uri="{FF2B5EF4-FFF2-40B4-BE49-F238E27FC236}">
                <a16:creationId xmlns:a16="http://schemas.microsoft.com/office/drawing/2014/main" id="{0C5A9519-EF0E-11DF-F0B5-80FD90E665ED}"/>
              </a:ext>
            </a:extLst>
          </p:cNvPr>
          <p:cNvPicPr>
            <a:picLocks noChangeAspect="1"/>
          </p:cNvPicPr>
          <p:nvPr/>
        </p:nvPicPr>
        <p:blipFill>
          <a:blip r:embed="rId3">
            <a:extLst>
              <a:ext uri="{28A0092B-C50C-407E-A947-70E740481C1C}">
                <a14:useLocalDpi xmlns:a14="http://schemas.microsoft.com/office/drawing/2010/main" val="0"/>
              </a:ext>
            </a:extLst>
          </a:blip>
          <a:srcRect l="33100" t="9377" r="14404" b="86737"/>
          <a:stretch>
            <a:fillRect/>
          </a:stretch>
        </p:blipFill>
        <p:spPr>
          <a:xfrm>
            <a:off x="6728681" y="4839845"/>
            <a:ext cx="5097145" cy="533368"/>
          </a:xfrm>
          <a:prstGeom prst="rect">
            <a:avLst/>
          </a:prstGeom>
          <a:ln>
            <a:solidFill>
              <a:schemeClr val="tx1"/>
            </a:solidFill>
          </a:ln>
        </p:spPr>
      </p:pic>
      <p:sp>
        <p:nvSpPr>
          <p:cNvPr id="6" name="תיבת טקסט 1">
            <a:extLst>
              <a:ext uri="{FF2B5EF4-FFF2-40B4-BE49-F238E27FC236}">
                <a16:creationId xmlns:a16="http://schemas.microsoft.com/office/drawing/2014/main" id="{9C4402E3-A247-EF2D-9660-E9FA4EFFC61B}"/>
              </a:ext>
            </a:extLst>
          </p:cNvPr>
          <p:cNvSpPr txBox="1"/>
          <p:nvPr/>
        </p:nvSpPr>
        <p:spPr>
          <a:xfrm>
            <a:off x="6879912" y="5404983"/>
            <a:ext cx="4587240" cy="390525"/>
          </a:xfrm>
          <a:prstGeom prst="rect">
            <a:avLst/>
          </a:prstGeom>
          <a:solidFill>
            <a:sysClr val="window" lastClr="FFFFFF"/>
          </a:solidFill>
          <a:ln w="6350">
            <a:noFill/>
          </a:ln>
        </p:spPr>
        <p:txBody>
          <a:bodyPr rot="0" spcFirstLastPara="0" vert="horz" wrap="none" lIns="91440" tIns="45720" rIns="91440" bIns="45720" numCol="1" spcCol="0" rtlCol="1" fromWordArt="0" anchor="t" anchorCtr="0" forceAA="0" compatLnSpc="1">
            <a:prstTxWarp prst="textNoShape">
              <a:avLst/>
            </a:prstTxWarp>
            <a:noAutofit/>
          </a:bodyPr>
          <a:lstStyle/>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חגי הוברמן, חנן פורת: סיפור חייו, ידיעות אחרונות, עמ’ </a:t>
            </a:r>
            <a:r>
              <a:rPr lang="en-US" sz="1400" b="1" kern="100" dirty="0">
                <a:effectLst/>
                <a:latin typeface="Arial" panose="020B0604020202020204" pitchFamily="34" charset="0"/>
                <a:ea typeface="Aptos" panose="020B0004020202020204" pitchFamily="34" charset="0"/>
                <a:cs typeface="Arial" panose="020B0604020202020204" pitchFamily="34" charset="0"/>
              </a:rPr>
              <a:t> 206-207</a:t>
            </a:r>
            <a:r>
              <a:rPr lang="en-US" sz="1400" b="1" kern="100" dirty="0">
                <a:effectLst/>
                <a:latin typeface="Aptos" panose="020B0004020202020204" pitchFamily="34" charset="0"/>
                <a:ea typeface="Aptos" panose="020B0004020202020204" pitchFamily="34" charset="0"/>
                <a:cs typeface="Arial" panose="020B0604020202020204" pitchFamily="34" charset="0"/>
              </a:rPr>
              <a:t>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en-US" sz="1200" kern="100" dirty="0">
                <a:effectLst/>
                <a:latin typeface="Aptos" panose="020B0004020202020204" pitchFamily="34" charset="0"/>
                <a:ea typeface="Aptos" panose="020B0004020202020204" pitchFamily="34" charset="0"/>
                <a:cs typeface="Arial" panose="020B0604020202020204" pitchFamily="34" charset="0"/>
              </a:rPr>
              <a:t> </a:t>
            </a:r>
          </a:p>
        </p:txBody>
      </p:sp>
      <p:pic>
        <p:nvPicPr>
          <p:cNvPr id="4" name="תמונה 3">
            <a:extLst>
              <a:ext uri="{FF2B5EF4-FFF2-40B4-BE49-F238E27FC236}">
                <a16:creationId xmlns:a16="http://schemas.microsoft.com/office/drawing/2014/main" id="{C6F610BD-EAC0-C2F6-E7EA-81BF6FA0C64A}"/>
              </a:ext>
            </a:extLst>
          </p:cNvPr>
          <p:cNvPicPr>
            <a:picLocks noChangeAspect="1"/>
          </p:cNvPicPr>
          <p:nvPr/>
        </p:nvPicPr>
        <p:blipFill>
          <a:blip r:embed="rId4">
            <a:extLst>
              <a:ext uri="{28A0092B-C50C-407E-A947-70E740481C1C}">
                <a14:useLocalDpi xmlns:a14="http://schemas.microsoft.com/office/drawing/2010/main" val="0"/>
              </a:ext>
            </a:extLst>
          </a:blip>
          <a:srcRect l="12306" t="10138" r="9321" b="6934"/>
          <a:stretch>
            <a:fillRect/>
          </a:stretch>
        </p:blipFill>
        <p:spPr>
          <a:xfrm rot="10800000">
            <a:off x="724849" y="219452"/>
            <a:ext cx="4281489" cy="6403790"/>
          </a:xfrm>
          <a:prstGeom prst="rect">
            <a:avLst/>
          </a:prstGeom>
          <a:ln>
            <a:solidFill>
              <a:schemeClr val="tx1"/>
            </a:solidFill>
          </a:ln>
        </p:spPr>
      </p:pic>
      <p:sp>
        <p:nvSpPr>
          <p:cNvPr id="8" name="תיבת טקסט 7">
            <a:extLst>
              <a:ext uri="{FF2B5EF4-FFF2-40B4-BE49-F238E27FC236}">
                <a16:creationId xmlns:a16="http://schemas.microsoft.com/office/drawing/2014/main" id="{92FD0606-3673-CE16-941B-EEBC33141254}"/>
              </a:ext>
            </a:extLst>
          </p:cNvPr>
          <p:cNvSpPr txBox="1"/>
          <p:nvPr/>
        </p:nvSpPr>
        <p:spPr>
          <a:xfrm>
            <a:off x="5006338" y="6115328"/>
            <a:ext cx="2388795" cy="523220"/>
          </a:xfrm>
          <a:prstGeom prst="rect">
            <a:avLst/>
          </a:prstGeom>
          <a:noFill/>
        </p:spPr>
        <p:txBody>
          <a:bodyPr wrap="none" rtlCol="1">
            <a:spAutoFit/>
          </a:bodyPr>
          <a:lstStyle/>
          <a:p>
            <a:r>
              <a:rPr lang="he-IL" sz="1400" b="1" dirty="0"/>
              <a:t>נעם ושירה </a:t>
            </a:r>
            <a:r>
              <a:rPr lang="he-IL" sz="1400" b="1" dirty="0" err="1"/>
              <a:t>ונגובר</a:t>
            </a:r>
            <a:r>
              <a:rPr lang="he-IL" sz="1400" b="1" dirty="0"/>
              <a:t>, חנן פורת: </a:t>
            </a:r>
          </a:p>
          <a:p>
            <a:r>
              <a:rPr lang="he-IL" sz="1400" b="1" dirty="0"/>
              <a:t>המנהיג שהגשים חלום, עמ' 40</a:t>
            </a:r>
          </a:p>
        </p:txBody>
      </p:sp>
    </p:spTree>
    <p:extLst>
      <p:ext uri="{BB962C8B-B14F-4D97-AF65-F5344CB8AC3E}">
        <p14:creationId xmlns:p14="http://schemas.microsoft.com/office/powerpoint/2010/main" val="2215552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E368E8D4-51DF-AFB5-3A16-3B62FB340396}"/>
              </a:ext>
            </a:extLst>
          </p:cNvPr>
          <p:cNvSpPr txBox="1"/>
          <p:nvPr/>
        </p:nvSpPr>
        <p:spPr>
          <a:xfrm>
            <a:off x="4515434" y="196467"/>
            <a:ext cx="2722220" cy="369332"/>
          </a:xfrm>
          <a:prstGeom prst="rect">
            <a:avLst/>
          </a:prstGeom>
          <a:solidFill>
            <a:schemeClr val="bg1"/>
          </a:solidFill>
          <a:ln>
            <a:solidFill>
              <a:schemeClr val="tx1"/>
            </a:solidFill>
          </a:ln>
        </p:spPr>
        <p:txBody>
          <a:bodyPr wrap="none" rtlCol="1">
            <a:spAutoFit/>
          </a:bodyPr>
          <a:lstStyle/>
          <a:p>
            <a:r>
              <a:rPr lang="he-IL" b="1" dirty="0">
                <a:solidFill>
                  <a:srgbClr val="0000FF"/>
                </a:solidFill>
              </a:rPr>
              <a:t>קליטת יהודי ברית המועצות</a:t>
            </a:r>
          </a:p>
        </p:txBody>
      </p:sp>
      <p:sp>
        <p:nvSpPr>
          <p:cNvPr id="7" name="תיבת טקסט 6">
            <a:extLst>
              <a:ext uri="{FF2B5EF4-FFF2-40B4-BE49-F238E27FC236}">
                <a16:creationId xmlns:a16="http://schemas.microsoft.com/office/drawing/2014/main" id="{FFB08686-69D6-D094-E512-CE5708A52246}"/>
              </a:ext>
            </a:extLst>
          </p:cNvPr>
          <p:cNvSpPr txBox="1"/>
          <p:nvPr/>
        </p:nvSpPr>
        <p:spPr>
          <a:xfrm>
            <a:off x="129540" y="5988719"/>
            <a:ext cx="11494008" cy="579261"/>
          </a:xfrm>
          <a:prstGeom prst="rect">
            <a:avLst/>
          </a:prstGeom>
          <a:solidFill>
            <a:srgbClr val="FFFF00"/>
          </a:solidFill>
          <a:ln>
            <a:solidFill>
              <a:schemeClr val="tx1"/>
            </a:solidFill>
          </a:ln>
        </p:spPr>
        <p:txBody>
          <a:bodyPr wrap="square">
            <a:spAutoFit/>
          </a:bodyPr>
          <a:lstStyle/>
          <a:p>
            <a:pPr algn="just"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David" panose="020E0502060401010101" pitchFamily="34" charset="-79"/>
              </a:rPr>
              <a:t>סייע רבות לעולי ברית המועצות שהחלו לעלות אט אט לארץ, בעיקר בקליטה הרוחנית שלהם וקרובם למורשת היהדות. דאג שצעירי הציונות הדתית יעזרו בקליטת גלי העלייה הגדולים עם פתיחת 'מסך הברזל'. הוא יזם הוצאת ספרי יהדות ואמונה בשפה הרוסית, וכן הגדה של פסח ומחזורים לימים הנוראים בתרגום לרוסית.</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תיבת טקסט 8">
            <a:extLst>
              <a:ext uri="{FF2B5EF4-FFF2-40B4-BE49-F238E27FC236}">
                <a16:creationId xmlns:a16="http://schemas.microsoft.com/office/drawing/2014/main" id="{0CF77584-A3D8-8A46-833C-F59D0B7D4B74}"/>
              </a:ext>
            </a:extLst>
          </p:cNvPr>
          <p:cNvSpPr txBox="1"/>
          <p:nvPr/>
        </p:nvSpPr>
        <p:spPr>
          <a:xfrm>
            <a:off x="3465576" y="1051560"/>
            <a:ext cx="1673352" cy="310896"/>
          </a:xfrm>
          <a:prstGeom prst="rect">
            <a:avLst/>
          </a:prstGeom>
          <a:solidFill>
            <a:schemeClr val="bg1"/>
          </a:solidFill>
        </p:spPr>
        <p:txBody>
          <a:bodyPr wrap="square" rtlCol="1">
            <a:spAutoFit/>
          </a:bodyPr>
          <a:lstStyle/>
          <a:p>
            <a:endParaRPr lang="he-IL" dirty="0"/>
          </a:p>
        </p:txBody>
      </p:sp>
      <p:sp>
        <p:nvSpPr>
          <p:cNvPr id="11" name="תיבת טקסט 10">
            <a:extLst>
              <a:ext uri="{FF2B5EF4-FFF2-40B4-BE49-F238E27FC236}">
                <a16:creationId xmlns:a16="http://schemas.microsoft.com/office/drawing/2014/main" id="{C268F43D-0C32-DB43-78BF-C33377F52D81}"/>
              </a:ext>
            </a:extLst>
          </p:cNvPr>
          <p:cNvSpPr txBox="1"/>
          <p:nvPr/>
        </p:nvSpPr>
        <p:spPr>
          <a:xfrm>
            <a:off x="6611112" y="1828800"/>
            <a:ext cx="1170850" cy="265176"/>
          </a:xfrm>
          <a:prstGeom prst="rect">
            <a:avLst/>
          </a:prstGeom>
          <a:solidFill>
            <a:schemeClr val="bg1"/>
          </a:solidFill>
        </p:spPr>
        <p:txBody>
          <a:bodyPr wrap="square" rtlCol="1">
            <a:spAutoFit/>
          </a:bodyPr>
          <a:lstStyle/>
          <a:p>
            <a:endParaRPr lang="he-IL" dirty="0"/>
          </a:p>
        </p:txBody>
      </p:sp>
      <p:sp>
        <p:nvSpPr>
          <p:cNvPr id="13" name="תיבת טקסט 12">
            <a:extLst>
              <a:ext uri="{FF2B5EF4-FFF2-40B4-BE49-F238E27FC236}">
                <a16:creationId xmlns:a16="http://schemas.microsoft.com/office/drawing/2014/main" id="{DEE8F943-04F6-A871-0010-74CB52816D1C}"/>
              </a:ext>
            </a:extLst>
          </p:cNvPr>
          <p:cNvSpPr txBox="1"/>
          <p:nvPr/>
        </p:nvSpPr>
        <p:spPr>
          <a:xfrm>
            <a:off x="2310384" y="3139777"/>
            <a:ext cx="1127760" cy="222430"/>
          </a:xfrm>
          <a:prstGeom prst="rect">
            <a:avLst/>
          </a:prstGeom>
          <a:solidFill>
            <a:schemeClr val="bg1"/>
          </a:solidFill>
        </p:spPr>
        <p:txBody>
          <a:bodyPr wrap="square" rtlCol="1">
            <a:spAutoFit/>
          </a:bodyPr>
          <a:lstStyle/>
          <a:p>
            <a:endParaRPr lang="he-IL" dirty="0"/>
          </a:p>
        </p:txBody>
      </p:sp>
      <p:sp>
        <p:nvSpPr>
          <p:cNvPr id="15" name="תיבת טקסט 14">
            <a:extLst>
              <a:ext uri="{FF2B5EF4-FFF2-40B4-BE49-F238E27FC236}">
                <a16:creationId xmlns:a16="http://schemas.microsoft.com/office/drawing/2014/main" id="{A55907A1-EB22-154E-74BC-7733A089954C}"/>
              </a:ext>
            </a:extLst>
          </p:cNvPr>
          <p:cNvSpPr txBox="1"/>
          <p:nvPr/>
        </p:nvSpPr>
        <p:spPr>
          <a:xfrm>
            <a:off x="2688336" y="5145244"/>
            <a:ext cx="1517904" cy="423451"/>
          </a:xfrm>
          <a:prstGeom prst="rect">
            <a:avLst/>
          </a:prstGeom>
          <a:solidFill>
            <a:schemeClr val="bg1"/>
          </a:solidFill>
        </p:spPr>
        <p:txBody>
          <a:bodyPr wrap="square" rtlCol="1">
            <a:spAutoFit/>
          </a:bodyPr>
          <a:lstStyle/>
          <a:p>
            <a:endParaRPr lang="he-IL" dirty="0"/>
          </a:p>
        </p:txBody>
      </p:sp>
      <p:sp>
        <p:nvSpPr>
          <p:cNvPr id="17" name="תיבת טקסט 16">
            <a:extLst>
              <a:ext uri="{FF2B5EF4-FFF2-40B4-BE49-F238E27FC236}">
                <a16:creationId xmlns:a16="http://schemas.microsoft.com/office/drawing/2014/main" id="{737D0C22-89C3-CA54-A08D-C8F83966BAD7}"/>
              </a:ext>
            </a:extLst>
          </p:cNvPr>
          <p:cNvSpPr txBox="1"/>
          <p:nvPr/>
        </p:nvSpPr>
        <p:spPr>
          <a:xfrm>
            <a:off x="2980944" y="3802849"/>
            <a:ext cx="1255776" cy="310896"/>
          </a:xfrm>
          <a:prstGeom prst="rect">
            <a:avLst/>
          </a:prstGeom>
          <a:solidFill>
            <a:schemeClr val="bg1"/>
          </a:solidFill>
        </p:spPr>
        <p:txBody>
          <a:bodyPr wrap="square" rtlCol="1">
            <a:spAutoFit/>
          </a:bodyPr>
          <a:lstStyle/>
          <a:p>
            <a:endParaRPr lang="he-IL" dirty="0"/>
          </a:p>
        </p:txBody>
      </p:sp>
      <p:sp>
        <p:nvSpPr>
          <p:cNvPr id="19" name="תיבת טקסט 18">
            <a:extLst>
              <a:ext uri="{FF2B5EF4-FFF2-40B4-BE49-F238E27FC236}">
                <a16:creationId xmlns:a16="http://schemas.microsoft.com/office/drawing/2014/main" id="{CDEE25F4-748C-45EF-44B8-8386EBAB9B81}"/>
              </a:ext>
            </a:extLst>
          </p:cNvPr>
          <p:cNvSpPr txBox="1"/>
          <p:nvPr/>
        </p:nvSpPr>
        <p:spPr>
          <a:xfrm>
            <a:off x="3706430" y="4474047"/>
            <a:ext cx="1420368" cy="310896"/>
          </a:xfrm>
          <a:prstGeom prst="rect">
            <a:avLst/>
          </a:prstGeom>
          <a:solidFill>
            <a:schemeClr val="bg1"/>
          </a:solidFill>
        </p:spPr>
        <p:txBody>
          <a:bodyPr wrap="square" rtlCol="1">
            <a:spAutoFit/>
          </a:bodyPr>
          <a:lstStyle/>
          <a:p>
            <a:endParaRPr lang="he-IL" dirty="0"/>
          </a:p>
        </p:txBody>
      </p:sp>
      <p:pic>
        <p:nvPicPr>
          <p:cNvPr id="21" name="תמונה 20">
            <a:extLst>
              <a:ext uri="{FF2B5EF4-FFF2-40B4-BE49-F238E27FC236}">
                <a16:creationId xmlns:a16="http://schemas.microsoft.com/office/drawing/2014/main" id="{2CEA5F0C-0B5A-73A0-5C7F-08553DA40953}"/>
              </a:ext>
            </a:extLst>
          </p:cNvPr>
          <p:cNvPicPr>
            <a:picLocks noChangeAspect="1"/>
          </p:cNvPicPr>
          <p:nvPr/>
        </p:nvPicPr>
        <p:blipFill>
          <a:blip r:embed="rId2"/>
          <a:stretch>
            <a:fillRect/>
          </a:stretch>
        </p:blipFill>
        <p:spPr>
          <a:xfrm>
            <a:off x="984774" y="647373"/>
            <a:ext cx="9783540" cy="5191850"/>
          </a:xfrm>
          <a:prstGeom prst="rect">
            <a:avLst/>
          </a:prstGeom>
        </p:spPr>
      </p:pic>
    </p:spTree>
    <p:extLst>
      <p:ext uri="{BB962C8B-B14F-4D97-AF65-F5344CB8AC3E}">
        <p14:creationId xmlns:p14="http://schemas.microsoft.com/office/powerpoint/2010/main" val="667429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29E78445-03D2-BD3A-9A47-E0D38127C1BD}"/>
              </a:ext>
            </a:extLst>
          </p:cNvPr>
          <p:cNvSpPr txBox="1"/>
          <p:nvPr/>
        </p:nvSpPr>
        <p:spPr>
          <a:xfrm>
            <a:off x="348994" y="329527"/>
            <a:ext cx="11494008" cy="827021"/>
          </a:xfrm>
          <a:prstGeom prst="rect">
            <a:avLst/>
          </a:prstGeom>
          <a:solidFill>
            <a:srgbClr val="FFFF00"/>
          </a:solidFill>
          <a:ln>
            <a:solidFill>
              <a:schemeClr val="tx1"/>
            </a:solidFill>
          </a:ln>
        </p:spPr>
        <p:txBody>
          <a:bodyPr wrap="square">
            <a:spAutoFit/>
          </a:bodyPr>
          <a:lstStyle/>
          <a:p>
            <a:pPr algn="just" rtl="1">
              <a:lnSpc>
                <a:spcPct val="115000"/>
              </a:lnSpc>
              <a:spcAft>
                <a:spcPts val="800"/>
              </a:spcAft>
              <a:buNone/>
            </a:pPr>
            <a:r>
              <a:rPr lang="he-IL" sz="1400" b="1" kern="100" dirty="0">
                <a:solidFill>
                  <a:srgbClr val="FF0000"/>
                </a:solidFill>
                <a:effectLst/>
                <a:latin typeface="Aptos" panose="020B0004020202020204" pitchFamily="34" charset="0"/>
                <a:ea typeface="Aptos" panose="020B0004020202020204" pitchFamily="34" charset="0"/>
                <a:cs typeface="David" panose="020E0502060401010101" pitchFamily="34" charset="-79"/>
              </a:rPr>
              <a:t>כ"ו בכסלו תשמ"ז, 1986 – </a:t>
            </a:r>
            <a:r>
              <a:rPr lang="he-IL" sz="1400" b="1" kern="100" dirty="0">
                <a:effectLst/>
                <a:latin typeface="Aptos" panose="020B0004020202020204" pitchFamily="34" charset="0"/>
                <a:ea typeface="Aptos" panose="020B0004020202020204" pitchFamily="34" charset="0"/>
                <a:cs typeface="David" panose="020E0502060401010101" pitchFamily="34" charset="-79"/>
              </a:rPr>
              <a:t>יזם עצרת אחדות גדולה ומרשימה, 'אור ודרור' (את השם הזה הוא נתן), במטרה להזדהות עם יהודי ברית המועצות, ולקרוא לשלטונות שם "שלח את עמי", היא התקיימה בתיאטרון ירושלים. הוא הנחה את העצרת כנציג הקיבוץ הדתי יחד עם נציג השומר הצעיר. השתתפו בה ראש הממשלה יצחק שמיר, ממלא מקומו ושר החוץ שמעון פרס, הראשון לציון הרב הראשי לישראל הרב מרדכי אליהו, מזכיר ההסתדרות ישראל קיסר, נציגים מכל תנועות ההתיישבות והקיבוצים, ואסירי ציון.</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p:txBody>
      </p:sp>
      <p:pic>
        <p:nvPicPr>
          <p:cNvPr id="2" name="תמונה 1" descr="הגדה של פסח ברוסית. כריכה קשה. פורמט גדול. עברית ורוסית ПАСХАЛЬНАЯ АГАДА">
            <a:extLst>
              <a:ext uri="{FF2B5EF4-FFF2-40B4-BE49-F238E27FC236}">
                <a16:creationId xmlns:a16="http://schemas.microsoft.com/office/drawing/2014/main" id="{C995076F-A60C-5B46-3EE5-12377EB078C1}"/>
              </a:ext>
            </a:extLst>
          </p:cNvPr>
          <p:cNvPicPr>
            <a:picLocks noChangeAspect="1"/>
          </p:cNvPicPr>
          <p:nvPr/>
        </p:nvPicPr>
        <p:blipFill>
          <a:blip r:embed="rId2"/>
          <a:stretch>
            <a:fillRect/>
          </a:stretch>
        </p:blipFill>
        <p:spPr>
          <a:xfrm>
            <a:off x="583979" y="2000342"/>
            <a:ext cx="2805888" cy="4164990"/>
          </a:xfrm>
          <a:prstGeom prst="rect">
            <a:avLst/>
          </a:prstGeom>
        </p:spPr>
      </p:pic>
      <p:pic>
        <p:nvPicPr>
          <p:cNvPr id="4" name="תמונה 3">
            <a:extLst>
              <a:ext uri="{FF2B5EF4-FFF2-40B4-BE49-F238E27FC236}">
                <a16:creationId xmlns:a16="http://schemas.microsoft.com/office/drawing/2014/main" id="{250016CF-7280-E228-7E2B-5CAC8402C9A3}"/>
              </a:ext>
            </a:extLst>
          </p:cNvPr>
          <p:cNvPicPr>
            <a:picLocks noChangeAspect="1"/>
          </p:cNvPicPr>
          <p:nvPr/>
        </p:nvPicPr>
        <p:blipFill>
          <a:blip r:embed="rId3"/>
          <a:stretch>
            <a:fillRect/>
          </a:stretch>
        </p:blipFill>
        <p:spPr>
          <a:xfrm>
            <a:off x="4270249" y="2000342"/>
            <a:ext cx="2761486" cy="4164990"/>
          </a:xfrm>
          <a:prstGeom prst="rect">
            <a:avLst/>
          </a:prstGeom>
        </p:spPr>
      </p:pic>
      <p:pic>
        <p:nvPicPr>
          <p:cNvPr id="9" name="תמונה 8">
            <a:extLst>
              <a:ext uri="{FF2B5EF4-FFF2-40B4-BE49-F238E27FC236}">
                <a16:creationId xmlns:a16="http://schemas.microsoft.com/office/drawing/2014/main" id="{6A2C3F7A-09E9-AF9C-6E43-55AF758FED10}"/>
              </a:ext>
            </a:extLst>
          </p:cNvPr>
          <p:cNvPicPr>
            <a:picLocks noChangeAspect="1"/>
          </p:cNvPicPr>
          <p:nvPr/>
        </p:nvPicPr>
        <p:blipFill>
          <a:blip r:embed="rId4"/>
          <a:srcRect t="1911" r="7070"/>
          <a:stretch>
            <a:fillRect/>
          </a:stretch>
        </p:blipFill>
        <p:spPr>
          <a:xfrm>
            <a:off x="8108905" y="1367487"/>
            <a:ext cx="2855695" cy="5190359"/>
          </a:xfrm>
          <a:prstGeom prst="rect">
            <a:avLst/>
          </a:prstGeom>
          <a:ln>
            <a:solidFill>
              <a:schemeClr val="tx1"/>
            </a:solidFill>
          </a:ln>
        </p:spPr>
      </p:pic>
      <p:sp>
        <p:nvSpPr>
          <p:cNvPr id="11" name="תיבת טקסט 10">
            <a:extLst>
              <a:ext uri="{FF2B5EF4-FFF2-40B4-BE49-F238E27FC236}">
                <a16:creationId xmlns:a16="http://schemas.microsoft.com/office/drawing/2014/main" id="{DF7310E5-C456-0487-AC5A-BE7A78CFBBE6}"/>
              </a:ext>
            </a:extLst>
          </p:cNvPr>
          <p:cNvSpPr txBox="1"/>
          <p:nvPr/>
        </p:nvSpPr>
        <p:spPr>
          <a:xfrm>
            <a:off x="8108905" y="6517533"/>
            <a:ext cx="1946367" cy="307777"/>
          </a:xfrm>
          <a:prstGeom prst="rect">
            <a:avLst/>
          </a:prstGeom>
          <a:noFill/>
        </p:spPr>
        <p:txBody>
          <a:bodyPr wrap="none" rtlCol="1">
            <a:spAutoFit/>
          </a:bodyPr>
          <a:lstStyle/>
          <a:p>
            <a:r>
              <a:rPr lang="he-IL" sz="1400" b="1" dirty="0"/>
              <a:t>מעריב, כ"ז כסלו תשמ"ז</a:t>
            </a:r>
          </a:p>
        </p:txBody>
      </p:sp>
      <p:sp>
        <p:nvSpPr>
          <p:cNvPr id="12" name="מלבן: פינות מעוגלות 11">
            <a:extLst>
              <a:ext uri="{FF2B5EF4-FFF2-40B4-BE49-F238E27FC236}">
                <a16:creationId xmlns:a16="http://schemas.microsoft.com/office/drawing/2014/main" id="{5BE7429D-FBE7-663C-A2E2-FAD5474CF295}"/>
              </a:ext>
            </a:extLst>
          </p:cNvPr>
          <p:cNvSpPr/>
          <p:nvPr/>
        </p:nvSpPr>
        <p:spPr>
          <a:xfrm>
            <a:off x="8174737" y="5767933"/>
            <a:ext cx="2702998" cy="760540"/>
          </a:xfrm>
          <a:prstGeom prst="round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תיבת טקסט 2">
            <a:extLst>
              <a:ext uri="{FF2B5EF4-FFF2-40B4-BE49-F238E27FC236}">
                <a16:creationId xmlns:a16="http://schemas.microsoft.com/office/drawing/2014/main" id="{A29E50BA-7325-73BB-4C52-C15023E5BAE7}"/>
              </a:ext>
            </a:extLst>
          </p:cNvPr>
          <p:cNvSpPr txBox="1"/>
          <p:nvPr/>
        </p:nvSpPr>
        <p:spPr>
          <a:xfrm>
            <a:off x="2050931" y="6250069"/>
            <a:ext cx="3788217" cy="307777"/>
          </a:xfrm>
          <a:prstGeom prst="rect">
            <a:avLst/>
          </a:prstGeom>
          <a:noFill/>
        </p:spPr>
        <p:txBody>
          <a:bodyPr wrap="none" rtlCol="1">
            <a:spAutoFit/>
          </a:bodyPr>
          <a:lstStyle/>
          <a:p>
            <a:r>
              <a:rPr lang="he-IL" sz="1400" b="1" dirty="0"/>
              <a:t>מחזורים והגדה של פסח שתורגמו לרוסית ביוזמתו</a:t>
            </a:r>
          </a:p>
        </p:txBody>
      </p:sp>
    </p:spTree>
    <p:extLst>
      <p:ext uri="{BB962C8B-B14F-4D97-AF65-F5344CB8AC3E}">
        <p14:creationId xmlns:p14="http://schemas.microsoft.com/office/powerpoint/2010/main" val="2803083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E288D57C-8F6E-92AF-792F-96225571BE5B}"/>
              </a:ext>
            </a:extLst>
          </p:cNvPr>
          <p:cNvPicPr>
            <a:picLocks noChangeAspect="1"/>
          </p:cNvPicPr>
          <p:nvPr/>
        </p:nvPicPr>
        <p:blipFill>
          <a:blip r:embed="rId2"/>
          <a:stretch>
            <a:fillRect/>
          </a:stretch>
        </p:blipFill>
        <p:spPr>
          <a:xfrm>
            <a:off x="1739683" y="384048"/>
            <a:ext cx="8712634" cy="5394959"/>
          </a:xfrm>
          <a:prstGeom prst="rect">
            <a:avLst/>
          </a:prstGeom>
          <a:ln>
            <a:solidFill>
              <a:schemeClr val="tx1"/>
            </a:solidFill>
          </a:ln>
        </p:spPr>
      </p:pic>
      <p:sp>
        <p:nvSpPr>
          <p:cNvPr id="5" name="תיבת טקסט 4">
            <a:extLst>
              <a:ext uri="{FF2B5EF4-FFF2-40B4-BE49-F238E27FC236}">
                <a16:creationId xmlns:a16="http://schemas.microsoft.com/office/drawing/2014/main" id="{E58ACF24-9259-253C-8724-AB8C08178797}"/>
              </a:ext>
            </a:extLst>
          </p:cNvPr>
          <p:cNvSpPr txBox="1"/>
          <p:nvPr/>
        </p:nvSpPr>
        <p:spPr>
          <a:xfrm>
            <a:off x="1545336" y="5853718"/>
            <a:ext cx="3160258" cy="307777"/>
          </a:xfrm>
          <a:prstGeom prst="rect">
            <a:avLst/>
          </a:prstGeom>
          <a:noFill/>
        </p:spPr>
        <p:txBody>
          <a:bodyPr wrap="square">
            <a:spAutoFit/>
          </a:bodyPr>
          <a:lstStyle/>
          <a:p>
            <a:pPr>
              <a:spcAft>
                <a:spcPts val="1000"/>
              </a:spcAft>
            </a:pPr>
            <a:r>
              <a:rPr lang="he-IL" sz="1400" b="1" dirty="0">
                <a:effectLst/>
                <a:latin typeface="+mn-lt"/>
                <a:ea typeface="Calibri" panose="020F0502020204030204" pitchFamily="34" charset="0"/>
                <a:cs typeface="Arial" panose="020B0604020202020204" pitchFamily="34" charset="0"/>
              </a:rPr>
              <a:t>רפי קפלן, </a:t>
            </a:r>
            <a:r>
              <a:rPr lang="he-IL" sz="1400" b="1" dirty="0">
                <a:ea typeface="Calibri" panose="020F0502020204030204" pitchFamily="34" charset="0"/>
              </a:rPr>
              <a:t>אור וטוב-חנן פורת ז"ל, ערוץ 7 </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989108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DDB6B8CB-E0D3-D852-5F4E-BBC9DB552AA1}"/>
              </a:ext>
            </a:extLst>
          </p:cNvPr>
          <p:cNvPicPr>
            <a:picLocks noChangeAspect="1"/>
          </p:cNvPicPr>
          <p:nvPr/>
        </p:nvPicPr>
        <p:blipFill>
          <a:blip r:embed="rId2"/>
          <a:srcRect t="19601"/>
          <a:stretch>
            <a:fillRect/>
          </a:stretch>
        </p:blipFill>
        <p:spPr>
          <a:xfrm>
            <a:off x="6717832" y="1162050"/>
            <a:ext cx="4681436" cy="5645734"/>
          </a:xfrm>
          <a:prstGeom prst="rect">
            <a:avLst/>
          </a:prstGeom>
          <a:ln>
            <a:solidFill>
              <a:schemeClr val="tx1"/>
            </a:solidFill>
          </a:ln>
        </p:spPr>
      </p:pic>
      <p:pic>
        <p:nvPicPr>
          <p:cNvPr id="4" name="תמונה 3">
            <a:extLst>
              <a:ext uri="{FF2B5EF4-FFF2-40B4-BE49-F238E27FC236}">
                <a16:creationId xmlns:a16="http://schemas.microsoft.com/office/drawing/2014/main" id="{60B30509-F1E2-B6D3-E618-A1C6EF03AA07}"/>
              </a:ext>
            </a:extLst>
          </p:cNvPr>
          <p:cNvPicPr>
            <a:picLocks noChangeAspect="1"/>
          </p:cNvPicPr>
          <p:nvPr/>
        </p:nvPicPr>
        <p:blipFill rotWithShape="1">
          <a:blip r:embed="rId3">
            <a:extLst>
              <a:ext uri="{28A0092B-C50C-407E-A947-70E740481C1C}">
                <a14:useLocalDpi xmlns:a14="http://schemas.microsoft.com/office/drawing/2010/main" val="0"/>
              </a:ext>
            </a:extLst>
          </a:blip>
          <a:srcRect l="50754" t="945" r="833" b="60249"/>
          <a:stretch>
            <a:fillRect/>
          </a:stretch>
        </p:blipFill>
        <p:spPr bwMode="auto">
          <a:xfrm>
            <a:off x="647700" y="356616"/>
            <a:ext cx="5609737" cy="3167787"/>
          </a:xfrm>
          <a:prstGeom prst="rect">
            <a:avLst/>
          </a:prstGeom>
          <a:ln w="9525"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pic>
        <p:nvPicPr>
          <p:cNvPr id="6" name="תמונה 5">
            <a:extLst>
              <a:ext uri="{FF2B5EF4-FFF2-40B4-BE49-F238E27FC236}">
                <a16:creationId xmlns:a16="http://schemas.microsoft.com/office/drawing/2014/main" id="{728A6BCD-20A0-94AE-F985-A23FC4D51EFB}"/>
              </a:ext>
            </a:extLst>
          </p:cNvPr>
          <p:cNvPicPr>
            <a:picLocks noChangeAspect="1"/>
          </p:cNvPicPr>
          <p:nvPr/>
        </p:nvPicPr>
        <p:blipFill>
          <a:blip r:embed="rId4"/>
          <a:stretch>
            <a:fillRect/>
          </a:stretch>
        </p:blipFill>
        <p:spPr>
          <a:xfrm>
            <a:off x="8207415" y="145417"/>
            <a:ext cx="1702269" cy="928142"/>
          </a:xfrm>
          <a:prstGeom prst="rect">
            <a:avLst/>
          </a:prstGeom>
          <a:ln>
            <a:solidFill>
              <a:schemeClr val="tx1"/>
            </a:solidFill>
          </a:ln>
        </p:spPr>
      </p:pic>
      <p:sp>
        <p:nvSpPr>
          <p:cNvPr id="7" name="תיבת טקסט 6">
            <a:extLst>
              <a:ext uri="{FF2B5EF4-FFF2-40B4-BE49-F238E27FC236}">
                <a16:creationId xmlns:a16="http://schemas.microsoft.com/office/drawing/2014/main" id="{80E33FC7-42E2-AEAF-4CC4-752BA4F776B1}"/>
              </a:ext>
            </a:extLst>
          </p:cNvPr>
          <p:cNvSpPr txBox="1"/>
          <p:nvPr/>
        </p:nvSpPr>
        <p:spPr>
          <a:xfrm>
            <a:off x="568389" y="3524403"/>
            <a:ext cx="1726755" cy="307777"/>
          </a:xfrm>
          <a:prstGeom prst="rect">
            <a:avLst/>
          </a:prstGeom>
          <a:noFill/>
        </p:spPr>
        <p:txBody>
          <a:bodyPr wrap="none" rtlCol="1">
            <a:spAutoFit/>
          </a:bodyPr>
          <a:lstStyle/>
          <a:p>
            <a:r>
              <a:rPr lang="he-IL" sz="1400" b="1" dirty="0"/>
              <a:t>ארצי, ד, אביב תשמ"ו</a:t>
            </a:r>
          </a:p>
        </p:txBody>
      </p:sp>
      <p:sp>
        <p:nvSpPr>
          <p:cNvPr id="9" name="מלבן 8">
            <a:extLst>
              <a:ext uri="{FF2B5EF4-FFF2-40B4-BE49-F238E27FC236}">
                <a16:creationId xmlns:a16="http://schemas.microsoft.com/office/drawing/2014/main" id="{229FFEDC-9B1E-56D2-EBF6-AEBF8C5DB3E8}"/>
              </a:ext>
            </a:extLst>
          </p:cNvPr>
          <p:cNvSpPr/>
          <p:nvPr/>
        </p:nvSpPr>
        <p:spPr>
          <a:xfrm>
            <a:off x="6717832" y="4681728"/>
            <a:ext cx="4681436" cy="21260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מלבן 10">
            <a:extLst>
              <a:ext uri="{FF2B5EF4-FFF2-40B4-BE49-F238E27FC236}">
                <a16:creationId xmlns:a16="http://schemas.microsoft.com/office/drawing/2014/main" id="{21094A23-F616-9C43-BA57-9B6892B3D25B}"/>
              </a:ext>
            </a:extLst>
          </p:cNvPr>
          <p:cNvSpPr/>
          <p:nvPr/>
        </p:nvSpPr>
        <p:spPr>
          <a:xfrm>
            <a:off x="647700" y="356616"/>
            <a:ext cx="5609737" cy="128016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798691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תיבת טקסט 9">
            <a:extLst>
              <a:ext uri="{FF2B5EF4-FFF2-40B4-BE49-F238E27FC236}">
                <a16:creationId xmlns:a16="http://schemas.microsoft.com/office/drawing/2014/main" id="{A20C5175-AFEA-F171-77A3-71ACBFAB5056}"/>
              </a:ext>
            </a:extLst>
          </p:cNvPr>
          <p:cNvSpPr txBox="1"/>
          <p:nvPr/>
        </p:nvSpPr>
        <p:spPr>
          <a:xfrm>
            <a:off x="1911704" y="5596128"/>
            <a:ext cx="4001416" cy="307777"/>
          </a:xfrm>
          <a:prstGeom prst="rect">
            <a:avLst/>
          </a:prstGeom>
          <a:noFill/>
        </p:spPr>
        <p:txBody>
          <a:bodyPr wrap="none" rtlCol="1">
            <a:spAutoFit/>
          </a:bodyPr>
          <a:lstStyle/>
          <a:p>
            <a:r>
              <a:rPr lang="he-IL" sz="1400" b="1" dirty="0"/>
              <a:t>רפי קפלן, "כל אחד והחלום שלו", ערוץ 7, 9.12.2020</a:t>
            </a:r>
          </a:p>
        </p:txBody>
      </p:sp>
      <p:pic>
        <p:nvPicPr>
          <p:cNvPr id="12" name="תמונה 11">
            <a:extLst>
              <a:ext uri="{FF2B5EF4-FFF2-40B4-BE49-F238E27FC236}">
                <a16:creationId xmlns:a16="http://schemas.microsoft.com/office/drawing/2014/main" id="{72F56C48-435B-D691-0500-D755B6C16EB7}"/>
              </a:ext>
            </a:extLst>
          </p:cNvPr>
          <p:cNvPicPr>
            <a:picLocks noChangeAspect="1"/>
          </p:cNvPicPr>
          <p:nvPr/>
        </p:nvPicPr>
        <p:blipFill>
          <a:blip r:embed="rId2"/>
          <a:stretch>
            <a:fillRect/>
          </a:stretch>
        </p:blipFill>
        <p:spPr>
          <a:xfrm>
            <a:off x="2068610" y="412842"/>
            <a:ext cx="8054779" cy="5183286"/>
          </a:xfrm>
          <a:prstGeom prst="rect">
            <a:avLst/>
          </a:prstGeom>
          <a:ln>
            <a:solidFill>
              <a:schemeClr val="tx1"/>
            </a:solidFill>
          </a:ln>
        </p:spPr>
      </p:pic>
    </p:spTree>
    <p:extLst>
      <p:ext uri="{BB962C8B-B14F-4D97-AF65-F5344CB8AC3E}">
        <p14:creationId xmlns:p14="http://schemas.microsoft.com/office/powerpoint/2010/main" val="3611350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40075AAD-A4B9-FFEF-9B84-0FDAABCDBD52}"/>
              </a:ext>
            </a:extLst>
          </p:cNvPr>
          <p:cNvPicPr>
            <a:picLocks noChangeAspect="1"/>
          </p:cNvPicPr>
          <p:nvPr/>
        </p:nvPicPr>
        <p:blipFill>
          <a:blip r:embed="rId2">
            <a:biLevel thresh="75000"/>
            <a:extLst>
              <a:ext uri="{28A0092B-C50C-407E-A947-70E740481C1C}">
                <a14:useLocalDpi xmlns:a14="http://schemas.microsoft.com/office/drawing/2010/main" val="0"/>
              </a:ext>
            </a:extLst>
          </a:blip>
          <a:srcRect l="36846" t="53750" r="10343" b="29305"/>
          <a:stretch>
            <a:fillRect/>
          </a:stretch>
        </p:blipFill>
        <p:spPr>
          <a:xfrm>
            <a:off x="6313070" y="3314797"/>
            <a:ext cx="5181992" cy="2350198"/>
          </a:xfrm>
          <a:prstGeom prst="rect">
            <a:avLst/>
          </a:prstGeom>
          <a:ln>
            <a:solidFill>
              <a:schemeClr val="tx1"/>
            </a:solidFill>
          </a:ln>
        </p:spPr>
      </p:pic>
      <p:pic>
        <p:nvPicPr>
          <p:cNvPr id="7" name="תמונה 6">
            <a:extLst>
              <a:ext uri="{FF2B5EF4-FFF2-40B4-BE49-F238E27FC236}">
                <a16:creationId xmlns:a16="http://schemas.microsoft.com/office/drawing/2014/main" id="{73B38FF2-AE52-4315-4C95-BB62728733F1}"/>
              </a:ext>
            </a:extLst>
          </p:cNvPr>
          <p:cNvPicPr>
            <a:picLocks noChangeAspect="1"/>
          </p:cNvPicPr>
          <p:nvPr/>
        </p:nvPicPr>
        <p:blipFill>
          <a:blip r:embed="rId3">
            <a:biLevel thresh="75000"/>
            <a:extLst>
              <a:ext uri="{28A0092B-C50C-407E-A947-70E740481C1C}">
                <a14:useLocalDpi xmlns:a14="http://schemas.microsoft.com/office/drawing/2010/main" val="0"/>
              </a:ext>
            </a:extLst>
          </a:blip>
          <a:srcRect l="10343" t="12222" r="1115" b="49861"/>
          <a:stretch>
            <a:fillRect/>
          </a:stretch>
        </p:blipFill>
        <p:spPr>
          <a:xfrm rot="5400000">
            <a:off x="445142" y="1404540"/>
            <a:ext cx="6463856" cy="3912711"/>
          </a:xfrm>
          <a:prstGeom prst="rect">
            <a:avLst/>
          </a:prstGeom>
          <a:ln>
            <a:solidFill>
              <a:schemeClr val="tx1"/>
            </a:solidFill>
          </a:ln>
        </p:spPr>
      </p:pic>
      <p:pic>
        <p:nvPicPr>
          <p:cNvPr id="9" name="תמונה 8">
            <a:extLst>
              <a:ext uri="{FF2B5EF4-FFF2-40B4-BE49-F238E27FC236}">
                <a16:creationId xmlns:a16="http://schemas.microsoft.com/office/drawing/2014/main" id="{E9A7E526-BA72-9FBF-465E-D7765E7CC40E}"/>
              </a:ext>
            </a:extLst>
          </p:cNvPr>
          <p:cNvPicPr>
            <a:picLocks noChangeAspect="1"/>
          </p:cNvPicPr>
          <p:nvPr/>
        </p:nvPicPr>
        <p:blipFill>
          <a:blip r:embed="rId4">
            <a:extLst>
              <a:ext uri="{28A0092B-C50C-407E-A947-70E740481C1C}">
                <a14:useLocalDpi xmlns:a14="http://schemas.microsoft.com/office/drawing/2010/main" val="0"/>
              </a:ext>
            </a:extLst>
          </a:blip>
          <a:srcRect t="48103" b="26049"/>
          <a:stretch>
            <a:fillRect/>
          </a:stretch>
        </p:blipFill>
        <p:spPr>
          <a:xfrm>
            <a:off x="6005565" y="128967"/>
            <a:ext cx="5848623" cy="2239138"/>
          </a:xfrm>
          <a:prstGeom prst="rect">
            <a:avLst/>
          </a:prstGeom>
          <a:ln>
            <a:solidFill>
              <a:schemeClr val="tx1"/>
            </a:solidFill>
          </a:ln>
        </p:spPr>
      </p:pic>
      <p:sp>
        <p:nvSpPr>
          <p:cNvPr id="11" name="תיבת טקסט 10">
            <a:extLst>
              <a:ext uri="{FF2B5EF4-FFF2-40B4-BE49-F238E27FC236}">
                <a16:creationId xmlns:a16="http://schemas.microsoft.com/office/drawing/2014/main" id="{455F410A-A80A-EAE7-91C4-C45AFE451BD4}"/>
              </a:ext>
            </a:extLst>
          </p:cNvPr>
          <p:cNvSpPr txBox="1"/>
          <p:nvPr/>
        </p:nvSpPr>
        <p:spPr>
          <a:xfrm>
            <a:off x="5895583" y="2368105"/>
            <a:ext cx="2605405" cy="429895"/>
          </a:xfrm>
          <a:prstGeom prst="rect">
            <a:avLst/>
          </a:prstGeom>
          <a:noFill/>
        </p:spPr>
        <p:txBody>
          <a:bodyPr wrap="none" rtlCol="1">
            <a:spAutoFit/>
          </a:bodyPr>
          <a:lstStyle/>
          <a:p>
            <a:pPr algn="r" rtl="1">
              <a:lnSpc>
                <a:spcPct val="115000"/>
              </a:lnSpc>
              <a:spcAft>
                <a:spcPts val="800"/>
              </a:spcAft>
              <a:buNone/>
            </a:pPr>
            <a:r>
              <a:rPr lang="he-IL" sz="1400" b="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רפי קפלן, ג' תשרי תשע"ז, ערוץ 7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4021121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1">
            <a:extLst>
              <a:ext uri="{FF2B5EF4-FFF2-40B4-BE49-F238E27FC236}">
                <a16:creationId xmlns:a16="http://schemas.microsoft.com/office/drawing/2014/main" id="{A8A0899E-2C51-969B-8879-7932EB87A18B}"/>
              </a:ext>
            </a:extLst>
          </p:cNvPr>
          <p:cNvSpPr txBox="1"/>
          <p:nvPr/>
        </p:nvSpPr>
        <p:spPr>
          <a:xfrm>
            <a:off x="6702552" y="5745444"/>
            <a:ext cx="3680460" cy="390525"/>
          </a:xfrm>
          <a:prstGeom prst="rect">
            <a:avLst/>
          </a:prstGeom>
          <a:solidFill>
            <a:sysClr val="window" lastClr="FFFFFF"/>
          </a:solidFill>
          <a:ln w="6350">
            <a:noFill/>
          </a:ln>
        </p:spPr>
        <p:txBody>
          <a:bodyPr rot="0" spcFirstLastPara="0" vert="horz" wrap="none" lIns="91440" tIns="45720" rIns="91440" bIns="45720" numCol="1" spcCol="0" rtlCol="1" fromWordArt="0" anchor="t" anchorCtr="0" forceAA="0" compatLnSpc="1">
            <a:prstTxWarp prst="textNoShape">
              <a:avLst/>
            </a:prstTxWarp>
            <a:noAutofit/>
          </a:bodyPr>
          <a:lstStyle/>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חגי הוברמן, חנן פורת: סיפור חייו, עמ’ </a:t>
            </a:r>
            <a:r>
              <a:rPr lang="en-US" sz="1400" b="1" kern="100" dirty="0">
                <a:effectLst/>
                <a:latin typeface="Arial" panose="020B0604020202020204" pitchFamily="34" charset="0"/>
                <a:ea typeface="Aptos" panose="020B0004020202020204" pitchFamily="34" charset="0"/>
                <a:cs typeface="Arial" panose="020B0604020202020204" pitchFamily="34" charset="0"/>
              </a:rPr>
              <a:t>211-213</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en-US" sz="1200" kern="100" dirty="0">
                <a:effectLst/>
                <a:latin typeface="Aptos" panose="020B0004020202020204" pitchFamily="34" charset="0"/>
                <a:ea typeface="Aptos" panose="020B0004020202020204" pitchFamily="34" charset="0"/>
                <a:cs typeface="Arial" panose="020B0604020202020204" pitchFamily="34" charset="0"/>
              </a:rPr>
              <a:t> </a:t>
            </a:r>
          </a:p>
        </p:txBody>
      </p:sp>
      <p:pic>
        <p:nvPicPr>
          <p:cNvPr id="10" name="תמונה 9">
            <a:extLst>
              <a:ext uri="{FF2B5EF4-FFF2-40B4-BE49-F238E27FC236}">
                <a16:creationId xmlns:a16="http://schemas.microsoft.com/office/drawing/2014/main" id="{E9593FD7-A1C4-B549-5DC7-D1EC0430FF87}"/>
              </a:ext>
            </a:extLst>
          </p:cNvPr>
          <p:cNvPicPr>
            <a:picLocks noChangeAspect="1"/>
          </p:cNvPicPr>
          <p:nvPr/>
        </p:nvPicPr>
        <p:blipFill>
          <a:blip r:embed="rId3">
            <a:biLevel thresh="75000"/>
            <a:extLst>
              <a:ext uri="{28A0092B-C50C-407E-A947-70E740481C1C}">
                <a14:useLocalDpi xmlns:a14="http://schemas.microsoft.com/office/drawing/2010/main" val="0"/>
              </a:ext>
            </a:extLst>
          </a:blip>
          <a:srcRect l="28616" t="5096" r="19101" b="79856"/>
          <a:stretch>
            <a:fillRect/>
          </a:stretch>
        </p:blipFill>
        <p:spPr>
          <a:xfrm rot="10800000">
            <a:off x="674178" y="772389"/>
            <a:ext cx="5269421" cy="2143874"/>
          </a:xfrm>
          <a:prstGeom prst="rect">
            <a:avLst/>
          </a:prstGeom>
          <a:ln>
            <a:solidFill>
              <a:schemeClr val="tx1"/>
            </a:solidFill>
          </a:ln>
        </p:spPr>
      </p:pic>
      <p:pic>
        <p:nvPicPr>
          <p:cNvPr id="12" name="תמונה 11">
            <a:extLst>
              <a:ext uri="{FF2B5EF4-FFF2-40B4-BE49-F238E27FC236}">
                <a16:creationId xmlns:a16="http://schemas.microsoft.com/office/drawing/2014/main" id="{58545EFF-5D48-C823-4F96-3F14606D36B4}"/>
              </a:ext>
            </a:extLst>
          </p:cNvPr>
          <p:cNvPicPr>
            <a:picLocks noChangeAspect="1"/>
          </p:cNvPicPr>
          <p:nvPr/>
        </p:nvPicPr>
        <p:blipFill>
          <a:blip r:embed="rId4">
            <a:biLevel thresh="75000"/>
            <a:extLst>
              <a:ext uri="{28A0092B-C50C-407E-A947-70E740481C1C}">
                <a14:useLocalDpi xmlns:a14="http://schemas.microsoft.com/office/drawing/2010/main" val="0"/>
              </a:ext>
            </a:extLst>
          </a:blip>
          <a:srcRect l="33510" t="5833" r="13482" b="81389"/>
          <a:stretch>
            <a:fillRect/>
          </a:stretch>
        </p:blipFill>
        <p:spPr>
          <a:xfrm>
            <a:off x="674178" y="2925407"/>
            <a:ext cx="5269421" cy="1795506"/>
          </a:xfrm>
          <a:prstGeom prst="rect">
            <a:avLst/>
          </a:prstGeom>
          <a:ln>
            <a:solidFill>
              <a:schemeClr val="tx1"/>
            </a:solidFill>
          </a:ln>
        </p:spPr>
      </p:pic>
      <p:sp>
        <p:nvSpPr>
          <p:cNvPr id="14" name="תיבת טקסט 32">
            <a:extLst>
              <a:ext uri="{FF2B5EF4-FFF2-40B4-BE49-F238E27FC236}">
                <a16:creationId xmlns:a16="http://schemas.microsoft.com/office/drawing/2014/main" id="{78FDA8F4-E9B7-B013-B94C-AF6EC665C00E}"/>
              </a:ext>
            </a:extLst>
          </p:cNvPr>
          <p:cNvSpPr txBox="1"/>
          <p:nvPr/>
        </p:nvSpPr>
        <p:spPr>
          <a:xfrm>
            <a:off x="33377" y="4730057"/>
            <a:ext cx="6374364" cy="409575"/>
          </a:xfrm>
          <a:prstGeom prst="rect">
            <a:avLst/>
          </a:prstGeom>
          <a:solidFill>
            <a:sysClr val="window" lastClr="FFFFFF"/>
          </a:solidFill>
          <a:ln w="6350">
            <a:noFill/>
          </a:ln>
        </p:spPr>
        <p:txBody>
          <a:bodyPr rot="0" spcFirstLastPara="0" vert="horz" wrap="square" lIns="91440" tIns="45720" rIns="91440" bIns="45720" numCol="1" spcCol="0" rtlCol="1" fromWordArt="0" anchor="t" anchorCtr="0" forceAA="0" compatLnSpc="1">
            <a:prstTxWarp prst="textNoShape">
              <a:avLst/>
            </a:prstTxWarp>
            <a:noAutofit/>
          </a:bodyPr>
          <a:lstStyle/>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    עודד מזרחי, רציתי להיות טוב: לקט סיפורים על חנן פורת, ראש יהודי, עמ' 180-181</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15" name="תיבת טקסט 14">
            <a:extLst>
              <a:ext uri="{FF2B5EF4-FFF2-40B4-BE49-F238E27FC236}">
                <a16:creationId xmlns:a16="http://schemas.microsoft.com/office/drawing/2014/main" id="{32E631DF-59B6-1FA8-3A22-A59A3236E3AE}"/>
              </a:ext>
            </a:extLst>
          </p:cNvPr>
          <p:cNvSpPr txBox="1"/>
          <p:nvPr/>
        </p:nvSpPr>
        <p:spPr>
          <a:xfrm>
            <a:off x="1853201" y="306151"/>
            <a:ext cx="2911374" cy="307777"/>
          </a:xfrm>
          <a:prstGeom prst="rect">
            <a:avLst/>
          </a:prstGeom>
          <a:solidFill>
            <a:srgbClr val="FFFF00"/>
          </a:solidFill>
          <a:ln>
            <a:solidFill>
              <a:schemeClr val="tx1"/>
            </a:solidFill>
          </a:ln>
        </p:spPr>
        <p:txBody>
          <a:bodyPr wrap="none" rtlCol="1">
            <a:spAutoFit/>
          </a:bodyPr>
          <a:lstStyle/>
          <a:p>
            <a:r>
              <a:rPr lang="he-IL" sz="1400" b="1" dirty="0"/>
              <a:t>גיוס כספים למען קליטת העלייה בארץ</a:t>
            </a:r>
          </a:p>
        </p:txBody>
      </p:sp>
      <p:pic>
        <p:nvPicPr>
          <p:cNvPr id="21" name="תמונה 20">
            <a:extLst>
              <a:ext uri="{FF2B5EF4-FFF2-40B4-BE49-F238E27FC236}">
                <a16:creationId xmlns:a16="http://schemas.microsoft.com/office/drawing/2014/main" id="{0A13E8C8-6BEC-1ADC-8C07-8A46E6305CEE}"/>
              </a:ext>
            </a:extLst>
          </p:cNvPr>
          <p:cNvPicPr>
            <a:picLocks noChangeAspect="1"/>
          </p:cNvPicPr>
          <p:nvPr/>
        </p:nvPicPr>
        <p:blipFill>
          <a:blip r:embed="rId5">
            <a:extLst>
              <a:ext uri="{28A0092B-C50C-407E-A947-70E740481C1C}">
                <a14:useLocalDpi xmlns:a14="http://schemas.microsoft.com/office/drawing/2010/main" val="0"/>
              </a:ext>
            </a:extLst>
          </a:blip>
          <a:srcRect l="32757" t="8952" r="13185" b="50000"/>
          <a:stretch>
            <a:fillRect/>
          </a:stretch>
        </p:blipFill>
        <p:spPr>
          <a:xfrm>
            <a:off x="6884656" y="772388"/>
            <a:ext cx="4633166" cy="4973056"/>
          </a:xfrm>
          <a:prstGeom prst="rect">
            <a:avLst/>
          </a:prstGeom>
          <a:ln>
            <a:solidFill>
              <a:schemeClr val="tx1"/>
            </a:solidFill>
          </a:ln>
        </p:spPr>
      </p:pic>
    </p:spTree>
    <p:extLst>
      <p:ext uri="{BB962C8B-B14F-4D97-AF65-F5344CB8AC3E}">
        <p14:creationId xmlns:p14="http://schemas.microsoft.com/office/powerpoint/2010/main" val="28405266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811505B6-B199-05C7-9A91-DBF2A6F91062}"/>
              </a:ext>
            </a:extLst>
          </p:cNvPr>
          <p:cNvSpPr txBox="1"/>
          <p:nvPr/>
        </p:nvSpPr>
        <p:spPr>
          <a:xfrm>
            <a:off x="300227" y="5280726"/>
            <a:ext cx="11567160" cy="579261"/>
          </a:xfrm>
          <a:prstGeom prst="rect">
            <a:avLst/>
          </a:prstGeom>
          <a:solidFill>
            <a:srgbClr val="FFFF00"/>
          </a:solidFill>
          <a:ln>
            <a:solidFill>
              <a:schemeClr val="tx1"/>
            </a:solidFill>
          </a:ln>
        </p:spPr>
        <p:txBody>
          <a:bodyPr wrap="square">
            <a:spAutoFit/>
          </a:bodyPr>
          <a:lstStyle/>
          <a:p>
            <a:pPr algn="just" rtl="1">
              <a:lnSpc>
                <a:spcPct val="115000"/>
              </a:lnSpc>
              <a:spcAft>
                <a:spcPts val="800"/>
              </a:spcAft>
              <a:buNone/>
            </a:pPr>
            <a:r>
              <a:rPr lang="he-IL" sz="1400" b="1" kern="100" dirty="0">
                <a:solidFill>
                  <a:srgbClr val="FF0000"/>
                </a:solidFill>
                <a:effectLst/>
                <a:latin typeface="Aptos" panose="020B0004020202020204" pitchFamily="34" charset="0"/>
                <a:ea typeface="Aptos" panose="020B0004020202020204" pitchFamily="34" charset="0"/>
                <a:cs typeface="David" panose="020E0502060401010101" pitchFamily="34" charset="-79"/>
              </a:rPr>
              <a:t>י"ב בסיון תשנ"ו, 1996 – </a:t>
            </a:r>
            <a:r>
              <a:rPr lang="he-IL" sz="1400" b="1" kern="100" dirty="0">
                <a:effectLst/>
                <a:latin typeface="Aptos" panose="020B0004020202020204" pitchFamily="34" charset="0"/>
                <a:ea typeface="Aptos" panose="020B0004020202020204" pitchFamily="34" charset="0"/>
                <a:cs typeface="David" panose="020E0502060401010101" pitchFamily="34" charset="-79"/>
              </a:rPr>
              <a:t>לקראת הבחירות לכנסת ה-14 הוצב במקום השישי </a:t>
            </a:r>
            <a:r>
              <a:rPr lang="he-IL" sz="1400" b="1" kern="100" dirty="0">
                <a:solidFill>
                  <a:srgbClr val="0000FF"/>
                </a:solidFill>
                <a:effectLst/>
                <a:latin typeface="Aptos" panose="020B0004020202020204" pitchFamily="34" charset="0"/>
                <a:ea typeface="Aptos" panose="020B0004020202020204" pitchFamily="34" charset="0"/>
                <a:cs typeface="David" panose="020E0502060401010101" pitchFamily="34" charset="-79"/>
              </a:rPr>
              <a:t>ברשימת המפד"ל</a:t>
            </a:r>
            <a:r>
              <a:rPr lang="he-IL" sz="1400" b="1" kern="100" dirty="0">
                <a:effectLst/>
                <a:latin typeface="Aptos" panose="020B0004020202020204" pitchFamily="34" charset="0"/>
                <a:ea typeface="Aptos" panose="020B0004020202020204" pitchFamily="34" charset="0"/>
                <a:cs typeface="David" panose="020E0502060401010101" pitchFamily="34" charset="-79"/>
              </a:rPr>
              <a:t>. בבחירות היא קיבלה תשעה מנדטים. </a:t>
            </a:r>
            <a:r>
              <a:rPr lang="he-IL" sz="1400" b="1" kern="100" dirty="0">
                <a:solidFill>
                  <a:srgbClr val="0000FF"/>
                </a:solidFill>
                <a:effectLst/>
                <a:latin typeface="Aptos" panose="020B0004020202020204" pitchFamily="34" charset="0"/>
                <a:ea typeface="Aptos" panose="020B0004020202020204" pitchFamily="34" charset="0"/>
                <a:cs typeface="David" panose="020E0502060401010101" pitchFamily="34" charset="-79"/>
              </a:rPr>
              <a:t>התמנה ליו"ר הסיעה והיה חבר בוועדת העלייה והקליטה ובוועדת החוץ והביטחון</a:t>
            </a:r>
            <a:r>
              <a:rPr lang="he-IL" sz="1400" b="1" kern="100" dirty="0">
                <a:effectLst/>
                <a:latin typeface="Aptos" panose="020B0004020202020204" pitchFamily="34" charset="0"/>
                <a:ea typeface="Aptos" panose="020B0004020202020204" pitchFamily="34" charset="0"/>
                <a:cs typeface="David" panose="020E0502060401010101" pitchFamily="34" charset="-79"/>
              </a:rPr>
              <a:t>. פעל רבות למען העולים מברית המועצות והעולים מאתיופיה</a:t>
            </a:r>
            <a:r>
              <a:rPr lang="he-IL" sz="1400" b="1" kern="100" dirty="0">
                <a:latin typeface="Aptos" panose="020B0004020202020204" pitchFamily="34" charset="0"/>
                <a:ea typeface="Aptos" panose="020B0004020202020204" pitchFamily="34" charset="0"/>
                <a:cs typeface="David" panose="020E0502060401010101" pitchFamily="34" charset="-79"/>
              </a:rPr>
              <a:t>.</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6" name="תיבת טקסט 5">
            <a:extLst>
              <a:ext uri="{FF2B5EF4-FFF2-40B4-BE49-F238E27FC236}">
                <a16:creationId xmlns:a16="http://schemas.microsoft.com/office/drawing/2014/main" id="{EB1C2F53-DF5A-B177-9FFF-B70314CF2C8A}"/>
              </a:ext>
            </a:extLst>
          </p:cNvPr>
          <p:cNvSpPr txBox="1"/>
          <p:nvPr/>
        </p:nvSpPr>
        <p:spPr>
          <a:xfrm>
            <a:off x="5623560" y="621792"/>
            <a:ext cx="2148840" cy="369332"/>
          </a:xfrm>
          <a:prstGeom prst="rect">
            <a:avLst/>
          </a:prstGeom>
          <a:solidFill>
            <a:schemeClr val="bg1"/>
          </a:solidFill>
        </p:spPr>
        <p:txBody>
          <a:bodyPr wrap="square" rtlCol="1">
            <a:spAutoFit/>
          </a:bodyPr>
          <a:lstStyle/>
          <a:p>
            <a:endParaRPr lang="he-IL" dirty="0"/>
          </a:p>
        </p:txBody>
      </p:sp>
      <p:sp>
        <p:nvSpPr>
          <p:cNvPr id="8" name="תיבת טקסט 7">
            <a:extLst>
              <a:ext uri="{FF2B5EF4-FFF2-40B4-BE49-F238E27FC236}">
                <a16:creationId xmlns:a16="http://schemas.microsoft.com/office/drawing/2014/main" id="{2B5DD867-2EF9-2FB3-C7D5-9829BE7A750B}"/>
              </a:ext>
            </a:extLst>
          </p:cNvPr>
          <p:cNvSpPr txBox="1"/>
          <p:nvPr/>
        </p:nvSpPr>
        <p:spPr>
          <a:xfrm>
            <a:off x="6553200" y="2038199"/>
            <a:ext cx="2148840" cy="369332"/>
          </a:xfrm>
          <a:prstGeom prst="rect">
            <a:avLst/>
          </a:prstGeom>
          <a:solidFill>
            <a:schemeClr val="bg1"/>
          </a:solidFill>
        </p:spPr>
        <p:txBody>
          <a:bodyPr wrap="square" rtlCol="1">
            <a:spAutoFit/>
          </a:bodyPr>
          <a:lstStyle/>
          <a:p>
            <a:endParaRPr lang="he-IL" dirty="0"/>
          </a:p>
        </p:txBody>
      </p:sp>
      <p:sp>
        <p:nvSpPr>
          <p:cNvPr id="10" name="תיבת טקסט 9">
            <a:extLst>
              <a:ext uri="{FF2B5EF4-FFF2-40B4-BE49-F238E27FC236}">
                <a16:creationId xmlns:a16="http://schemas.microsoft.com/office/drawing/2014/main" id="{3AD2AACC-2860-37A8-B22D-8B9C8514A436}"/>
              </a:ext>
            </a:extLst>
          </p:cNvPr>
          <p:cNvSpPr txBox="1"/>
          <p:nvPr/>
        </p:nvSpPr>
        <p:spPr>
          <a:xfrm>
            <a:off x="5021580" y="2818722"/>
            <a:ext cx="2148840" cy="369332"/>
          </a:xfrm>
          <a:prstGeom prst="rect">
            <a:avLst/>
          </a:prstGeom>
          <a:solidFill>
            <a:schemeClr val="bg1"/>
          </a:solidFill>
        </p:spPr>
        <p:txBody>
          <a:bodyPr wrap="square" rtlCol="1">
            <a:spAutoFit/>
          </a:bodyPr>
          <a:lstStyle/>
          <a:p>
            <a:endParaRPr lang="he-IL" dirty="0"/>
          </a:p>
        </p:txBody>
      </p:sp>
      <p:sp>
        <p:nvSpPr>
          <p:cNvPr id="12" name="תיבת טקסט 11">
            <a:extLst>
              <a:ext uri="{FF2B5EF4-FFF2-40B4-BE49-F238E27FC236}">
                <a16:creationId xmlns:a16="http://schemas.microsoft.com/office/drawing/2014/main" id="{C6322A09-2040-0E45-1479-84C52CCD6FA4}"/>
              </a:ext>
            </a:extLst>
          </p:cNvPr>
          <p:cNvSpPr txBox="1"/>
          <p:nvPr/>
        </p:nvSpPr>
        <p:spPr>
          <a:xfrm>
            <a:off x="3179064" y="3640808"/>
            <a:ext cx="2148840" cy="369332"/>
          </a:xfrm>
          <a:prstGeom prst="rect">
            <a:avLst/>
          </a:prstGeom>
          <a:solidFill>
            <a:schemeClr val="bg1"/>
          </a:solidFill>
        </p:spPr>
        <p:txBody>
          <a:bodyPr wrap="square" rtlCol="1">
            <a:spAutoFit/>
          </a:bodyPr>
          <a:lstStyle/>
          <a:p>
            <a:endParaRPr lang="he-IL" dirty="0"/>
          </a:p>
        </p:txBody>
      </p:sp>
      <p:sp>
        <p:nvSpPr>
          <p:cNvPr id="14" name="תיבת טקסט 13">
            <a:extLst>
              <a:ext uri="{FF2B5EF4-FFF2-40B4-BE49-F238E27FC236}">
                <a16:creationId xmlns:a16="http://schemas.microsoft.com/office/drawing/2014/main" id="{AA55D948-147F-9E24-4B53-24AC658386F8}"/>
              </a:ext>
            </a:extLst>
          </p:cNvPr>
          <p:cNvSpPr txBox="1"/>
          <p:nvPr/>
        </p:nvSpPr>
        <p:spPr>
          <a:xfrm>
            <a:off x="3934968" y="4188520"/>
            <a:ext cx="2148840" cy="369332"/>
          </a:xfrm>
          <a:prstGeom prst="rect">
            <a:avLst/>
          </a:prstGeom>
          <a:solidFill>
            <a:schemeClr val="bg1"/>
          </a:solidFill>
        </p:spPr>
        <p:txBody>
          <a:bodyPr wrap="square" rtlCol="1">
            <a:spAutoFit/>
          </a:bodyPr>
          <a:lstStyle/>
          <a:p>
            <a:endParaRPr lang="he-IL" dirty="0"/>
          </a:p>
        </p:txBody>
      </p:sp>
      <p:pic>
        <p:nvPicPr>
          <p:cNvPr id="16" name="תמונה 15">
            <a:extLst>
              <a:ext uri="{FF2B5EF4-FFF2-40B4-BE49-F238E27FC236}">
                <a16:creationId xmlns:a16="http://schemas.microsoft.com/office/drawing/2014/main" id="{62B3FF86-0870-1E2E-BB88-41DEAF5D285B}"/>
              </a:ext>
            </a:extLst>
          </p:cNvPr>
          <p:cNvPicPr>
            <a:picLocks noChangeAspect="1"/>
          </p:cNvPicPr>
          <p:nvPr/>
        </p:nvPicPr>
        <p:blipFill>
          <a:blip r:embed="rId2"/>
          <a:stretch>
            <a:fillRect/>
          </a:stretch>
        </p:blipFill>
        <p:spPr>
          <a:xfrm>
            <a:off x="1963669" y="248004"/>
            <a:ext cx="8240275" cy="4601217"/>
          </a:xfrm>
          <a:prstGeom prst="rect">
            <a:avLst/>
          </a:prstGeom>
        </p:spPr>
      </p:pic>
    </p:spTree>
    <p:extLst>
      <p:ext uri="{BB962C8B-B14F-4D97-AF65-F5344CB8AC3E}">
        <p14:creationId xmlns:p14="http://schemas.microsoft.com/office/powerpoint/2010/main" val="2945332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96AD85D5-8F46-CE0B-465D-9A551D35D23C}"/>
              </a:ext>
            </a:extLst>
          </p:cNvPr>
          <p:cNvPicPr>
            <a:picLocks noChangeAspect="1"/>
          </p:cNvPicPr>
          <p:nvPr/>
        </p:nvPicPr>
        <p:blipFill>
          <a:blip r:embed="rId2"/>
          <a:stretch>
            <a:fillRect/>
          </a:stretch>
        </p:blipFill>
        <p:spPr>
          <a:xfrm>
            <a:off x="1511683" y="736445"/>
            <a:ext cx="9107920" cy="890825"/>
          </a:xfrm>
          <a:prstGeom prst="rect">
            <a:avLst/>
          </a:prstGeom>
          <a:ln>
            <a:solidFill>
              <a:schemeClr val="tx1"/>
            </a:solidFill>
          </a:ln>
        </p:spPr>
      </p:pic>
      <p:sp>
        <p:nvSpPr>
          <p:cNvPr id="5" name="Text Box 17">
            <a:extLst>
              <a:ext uri="{FF2B5EF4-FFF2-40B4-BE49-F238E27FC236}">
                <a16:creationId xmlns:a16="http://schemas.microsoft.com/office/drawing/2014/main" id="{7FA43D11-7D3A-00BF-680B-CC24A525FE3D}"/>
              </a:ext>
            </a:extLst>
          </p:cNvPr>
          <p:cNvSpPr txBox="1">
            <a:spLocks noChangeArrowheads="1"/>
          </p:cNvSpPr>
          <p:nvPr/>
        </p:nvSpPr>
        <p:spPr bwMode="auto">
          <a:xfrm>
            <a:off x="5105546" y="149575"/>
            <a:ext cx="1922321" cy="338554"/>
          </a:xfrm>
          <a:prstGeom prst="rect">
            <a:avLst/>
          </a:prstGeom>
          <a:solidFill>
            <a:schemeClr val="bg1"/>
          </a:solidFill>
          <a:ln w="9525">
            <a:solidFill>
              <a:schemeClr val="tx1"/>
            </a:solidFill>
            <a:miter lim="800000"/>
            <a:headEnd/>
            <a:tailEnd/>
          </a:ln>
        </p:spPr>
        <p:txBody>
          <a:bodyPr wrap="non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he-IL" altLang="he-IL" sz="1600" b="1" dirty="0">
                <a:solidFill>
                  <a:srgbClr val="0000FF"/>
                </a:solidFill>
              </a:rPr>
              <a:t>קליטת יהודי אתיופיה</a:t>
            </a:r>
            <a:endParaRPr lang="en-US" altLang="he-IL" sz="1600" b="1" dirty="0">
              <a:solidFill>
                <a:srgbClr val="0000FF"/>
              </a:solidFill>
            </a:endParaRPr>
          </a:p>
        </p:txBody>
      </p:sp>
      <p:sp>
        <p:nvSpPr>
          <p:cNvPr id="7" name="תיבת טקסט 6">
            <a:extLst>
              <a:ext uri="{FF2B5EF4-FFF2-40B4-BE49-F238E27FC236}">
                <a16:creationId xmlns:a16="http://schemas.microsoft.com/office/drawing/2014/main" id="{DBED81E7-4441-BA04-F422-BE9A110C0DD7}"/>
              </a:ext>
            </a:extLst>
          </p:cNvPr>
          <p:cNvSpPr txBox="1"/>
          <p:nvPr/>
        </p:nvSpPr>
        <p:spPr>
          <a:xfrm>
            <a:off x="166116" y="3236493"/>
            <a:ext cx="11567160" cy="579261"/>
          </a:xfrm>
          <a:prstGeom prst="rect">
            <a:avLst/>
          </a:prstGeom>
          <a:solidFill>
            <a:srgbClr val="FFFF00"/>
          </a:solidFill>
          <a:ln>
            <a:solidFill>
              <a:schemeClr val="tx1"/>
            </a:solidFill>
          </a:ln>
        </p:spPr>
        <p:txBody>
          <a:bodyPr wrap="square">
            <a:spAutoFit/>
          </a:bodyPr>
          <a:lstStyle/>
          <a:p>
            <a:pPr algn="just">
              <a:lnSpc>
                <a:spcPct val="115000"/>
              </a:lnSpc>
              <a:spcAft>
                <a:spcPts val="800"/>
              </a:spcAft>
            </a:pPr>
            <a:r>
              <a:rPr lang="he-IL" sz="1400" b="1" kern="100" dirty="0">
                <a:solidFill>
                  <a:srgbClr val="FF0000"/>
                </a:solidFill>
                <a:latin typeface="Aptos" panose="020B0004020202020204" pitchFamily="34" charset="0"/>
                <a:ea typeface="Aptos" panose="020B0004020202020204" pitchFamily="34" charset="0"/>
                <a:cs typeface="David" panose="020E0502060401010101" pitchFamily="34" charset="-79"/>
              </a:rPr>
              <a:t>י"ב בסיון תשנ"א, 1991 - </a:t>
            </a:r>
            <a:r>
              <a:rPr lang="he-IL" sz="1400" b="1" kern="100" dirty="0">
                <a:latin typeface="Aptos" panose="020B0004020202020204" pitchFamily="34" charset="0"/>
                <a:ea typeface="Aptos" panose="020B0004020202020204" pitchFamily="34" charset="0"/>
                <a:cs typeface="David" panose="020E0502060401010101" pitchFamily="34" charset="-79"/>
              </a:rPr>
              <a:t>בעת 'מבצע שלמה', (בתוך 36 שעות הוטסו לישראל ברכבת אווירית מאדיס אבבה 14,310 יהודים מאתיופיה), התקשר בליל שבת לראש הממשלה, יצחק שמיר, וביקש ממנו שייתן הוראה לעלות למטוסים גם את 2,800 בני </a:t>
            </a:r>
            <a:r>
              <a:rPr lang="he-IL" sz="1400" b="1" kern="100" dirty="0" err="1">
                <a:latin typeface="Aptos" panose="020B0004020202020204" pitchFamily="34" charset="0"/>
                <a:ea typeface="Aptos" panose="020B0004020202020204" pitchFamily="34" charset="0"/>
                <a:cs typeface="David" panose="020E0502060401010101" pitchFamily="34" charset="-79"/>
              </a:rPr>
              <a:t>הפלשמורה</a:t>
            </a:r>
            <a:r>
              <a:rPr lang="he-IL" sz="1400" b="1" kern="100" dirty="0">
                <a:latin typeface="Aptos" panose="020B0004020202020204" pitchFamily="34" charset="0"/>
                <a:ea typeface="Aptos" panose="020B0004020202020204" pitchFamily="34" charset="0"/>
                <a:cs typeface="David" panose="020E0502060401010101" pitchFamily="34" charset="-79"/>
              </a:rPr>
              <a:t>, באומרו: "המתחיל במצווה אומרים לו גמור". הוא סירב.</a:t>
            </a:r>
            <a:endParaRPr lang="en-US" sz="1400" b="1" kern="100" dirty="0">
              <a:latin typeface="Aptos" panose="020B0004020202020204" pitchFamily="34" charset="0"/>
              <a:ea typeface="Aptos" panose="020B0004020202020204" pitchFamily="34" charset="0"/>
              <a:cs typeface="Arial" panose="020B0604020202020204" pitchFamily="34" charset="0"/>
            </a:endParaRPr>
          </a:p>
        </p:txBody>
      </p:sp>
      <p:pic>
        <p:nvPicPr>
          <p:cNvPr id="9" name="תמונה 8">
            <a:extLst>
              <a:ext uri="{FF2B5EF4-FFF2-40B4-BE49-F238E27FC236}">
                <a16:creationId xmlns:a16="http://schemas.microsoft.com/office/drawing/2014/main" id="{2301EC3C-3EF9-3BE7-24E0-7EE911CA0167}"/>
              </a:ext>
            </a:extLst>
          </p:cNvPr>
          <p:cNvPicPr>
            <a:picLocks noChangeAspect="1"/>
          </p:cNvPicPr>
          <p:nvPr/>
        </p:nvPicPr>
        <p:blipFill>
          <a:blip r:embed="rId3"/>
          <a:srcRect l="704" t="24207" r="4731" b="61836"/>
          <a:stretch>
            <a:fillRect/>
          </a:stretch>
        </p:blipFill>
        <p:spPr>
          <a:xfrm>
            <a:off x="1545336" y="4329921"/>
            <a:ext cx="9040614" cy="1346221"/>
          </a:xfrm>
          <a:prstGeom prst="rect">
            <a:avLst/>
          </a:prstGeom>
          <a:ln>
            <a:solidFill>
              <a:schemeClr val="tx1"/>
            </a:solidFill>
          </a:ln>
        </p:spPr>
      </p:pic>
      <p:sp>
        <p:nvSpPr>
          <p:cNvPr id="11" name="תיבת טקסט 10">
            <a:extLst>
              <a:ext uri="{FF2B5EF4-FFF2-40B4-BE49-F238E27FC236}">
                <a16:creationId xmlns:a16="http://schemas.microsoft.com/office/drawing/2014/main" id="{9B86D0B5-B921-9B19-DA98-BE6A40E2D2C1}"/>
              </a:ext>
            </a:extLst>
          </p:cNvPr>
          <p:cNvSpPr txBox="1"/>
          <p:nvPr/>
        </p:nvSpPr>
        <p:spPr>
          <a:xfrm>
            <a:off x="248410" y="2126590"/>
            <a:ext cx="11567160" cy="579774"/>
          </a:xfrm>
          <a:prstGeom prst="rect">
            <a:avLst/>
          </a:prstGeom>
          <a:solidFill>
            <a:srgbClr val="FFFF00"/>
          </a:solidFill>
          <a:ln>
            <a:solidFill>
              <a:schemeClr val="tx1"/>
            </a:solidFill>
          </a:ln>
        </p:spPr>
        <p:txBody>
          <a:bodyPr wrap="square">
            <a:spAutoFit/>
          </a:bodyPr>
          <a:lstStyle/>
          <a:p>
            <a:pPr algn="just"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David" panose="020E0502060401010101" pitchFamily="34" charset="-79"/>
              </a:rPr>
              <a:t>עמד בראש המאבק הציבורי, שנמשך מספר שנים, למען העלאתם לארץ של בני </a:t>
            </a:r>
            <a:r>
              <a:rPr lang="he-IL" sz="1400" b="1" kern="100" dirty="0" err="1">
                <a:effectLst/>
                <a:latin typeface="Aptos" panose="020B0004020202020204" pitchFamily="34" charset="0"/>
                <a:ea typeface="Aptos" panose="020B0004020202020204" pitchFamily="34" charset="0"/>
                <a:cs typeface="David" panose="020E0502060401010101" pitchFamily="34" charset="-79"/>
              </a:rPr>
              <a:t>הפלאשמורה</a:t>
            </a:r>
            <a:r>
              <a:rPr lang="he-IL" sz="1400" b="1" kern="100" dirty="0">
                <a:effectLst/>
                <a:latin typeface="Aptos" panose="020B0004020202020204" pitchFamily="34" charset="0"/>
                <a:ea typeface="Aptos" panose="020B0004020202020204" pitchFamily="34" charset="0"/>
                <a:cs typeface="David" panose="020E0502060401010101" pitchFamily="34" charset="-79"/>
              </a:rPr>
              <a:t> (צאצאי 'ביתא ישראל' שהתנצרו), גיורם וקליטתם בארץ, למרות התנגדות הסוכנות היהודית ומשרד החוץ. כחבר בוועדת העלייה והקליטה של כנסת, פעל רבות למען קליטת העולים מאתיופיה, בין השאר בהכנסת נערי העדה למוסדות דתיים.</a:t>
            </a:r>
          </a:p>
        </p:txBody>
      </p:sp>
      <p:sp>
        <p:nvSpPr>
          <p:cNvPr id="12" name="תיבת טקסט 11">
            <a:extLst>
              <a:ext uri="{FF2B5EF4-FFF2-40B4-BE49-F238E27FC236}">
                <a16:creationId xmlns:a16="http://schemas.microsoft.com/office/drawing/2014/main" id="{A474E844-5205-5677-9DEC-3A941EF5FF44}"/>
              </a:ext>
            </a:extLst>
          </p:cNvPr>
          <p:cNvSpPr txBox="1"/>
          <p:nvPr/>
        </p:nvSpPr>
        <p:spPr>
          <a:xfrm>
            <a:off x="8759952" y="1280160"/>
            <a:ext cx="923544" cy="316301"/>
          </a:xfrm>
          <a:prstGeom prst="rect">
            <a:avLst/>
          </a:prstGeom>
          <a:solidFill>
            <a:schemeClr val="bg1"/>
          </a:solidFill>
        </p:spPr>
        <p:txBody>
          <a:bodyPr wrap="square" rtlCol="1">
            <a:spAutoFit/>
          </a:bodyPr>
          <a:lstStyle/>
          <a:p>
            <a:endParaRPr lang="he-IL" dirty="0"/>
          </a:p>
        </p:txBody>
      </p:sp>
      <p:sp>
        <p:nvSpPr>
          <p:cNvPr id="14" name="תיבת טקסט 13">
            <a:extLst>
              <a:ext uri="{FF2B5EF4-FFF2-40B4-BE49-F238E27FC236}">
                <a16:creationId xmlns:a16="http://schemas.microsoft.com/office/drawing/2014/main" id="{B1321F99-0C5E-5ACC-8DC8-220C957796EA}"/>
              </a:ext>
            </a:extLst>
          </p:cNvPr>
          <p:cNvSpPr txBox="1"/>
          <p:nvPr/>
        </p:nvSpPr>
        <p:spPr>
          <a:xfrm>
            <a:off x="6736080" y="5359841"/>
            <a:ext cx="923544" cy="316301"/>
          </a:xfrm>
          <a:prstGeom prst="rect">
            <a:avLst/>
          </a:prstGeom>
          <a:solidFill>
            <a:schemeClr val="bg1"/>
          </a:solidFill>
        </p:spPr>
        <p:txBody>
          <a:bodyPr wrap="square" rtlCol="1">
            <a:spAutoFit/>
          </a:bodyPr>
          <a:lstStyle/>
          <a:p>
            <a:endParaRPr lang="he-IL" dirty="0"/>
          </a:p>
        </p:txBody>
      </p:sp>
    </p:spTree>
    <p:extLst>
      <p:ext uri="{BB962C8B-B14F-4D97-AF65-F5344CB8AC3E}">
        <p14:creationId xmlns:p14="http://schemas.microsoft.com/office/powerpoint/2010/main" val="31041446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3DDE5C6-14C6-0CE5-C7EF-09D648891BE9}"/>
              </a:ext>
            </a:extLst>
          </p:cNvPr>
          <p:cNvPicPr>
            <a:picLocks noChangeAspect="1"/>
          </p:cNvPicPr>
          <p:nvPr/>
        </p:nvPicPr>
        <p:blipFill>
          <a:blip r:embed="rId2"/>
          <a:stretch>
            <a:fillRect/>
          </a:stretch>
        </p:blipFill>
        <p:spPr>
          <a:xfrm>
            <a:off x="6107605" y="2761937"/>
            <a:ext cx="5684046" cy="3333912"/>
          </a:xfrm>
          <a:prstGeom prst="rect">
            <a:avLst/>
          </a:prstGeom>
          <a:ln>
            <a:solidFill>
              <a:schemeClr val="tx1"/>
            </a:solidFill>
          </a:ln>
        </p:spPr>
      </p:pic>
      <p:pic>
        <p:nvPicPr>
          <p:cNvPr id="5" name="תמונה 4">
            <a:extLst>
              <a:ext uri="{FF2B5EF4-FFF2-40B4-BE49-F238E27FC236}">
                <a16:creationId xmlns:a16="http://schemas.microsoft.com/office/drawing/2014/main" id="{8CBE8806-6363-4B6C-1ACD-536F73A970E2}"/>
              </a:ext>
            </a:extLst>
          </p:cNvPr>
          <p:cNvPicPr>
            <a:picLocks noChangeAspect="1"/>
          </p:cNvPicPr>
          <p:nvPr/>
        </p:nvPicPr>
        <p:blipFill>
          <a:blip r:embed="rId3"/>
          <a:srcRect t="10935"/>
          <a:stretch>
            <a:fillRect/>
          </a:stretch>
        </p:blipFill>
        <p:spPr>
          <a:xfrm>
            <a:off x="176962" y="1316735"/>
            <a:ext cx="5501461" cy="5435313"/>
          </a:xfrm>
          <a:prstGeom prst="rect">
            <a:avLst/>
          </a:prstGeom>
          <a:ln>
            <a:solidFill>
              <a:schemeClr val="tx1"/>
            </a:solidFill>
          </a:ln>
        </p:spPr>
      </p:pic>
      <p:pic>
        <p:nvPicPr>
          <p:cNvPr id="9" name="תמונה 8">
            <a:extLst>
              <a:ext uri="{FF2B5EF4-FFF2-40B4-BE49-F238E27FC236}">
                <a16:creationId xmlns:a16="http://schemas.microsoft.com/office/drawing/2014/main" id="{3C07BE61-03BB-5DD2-2926-F965E00BBF6C}"/>
              </a:ext>
            </a:extLst>
          </p:cNvPr>
          <p:cNvPicPr>
            <a:picLocks noChangeAspect="1"/>
          </p:cNvPicPr>
          <p:nvPr/>
        </p:nvPicPr>
        <p:blipFill>
          <a:blip r:embed="rId4"/>
          <a:stretch>
            <a:fillRect/>
          </a:stretch>
        </p:blipFill>
        <p:spPr>
          <a:xfrm>
            <a:off x="7219891" y="1359236"/>
            <a:ext cx="3442013" cy="1317968"/>
          </a:xfrm>
          <a:prstGeom prst="rect">
            <a:avLst/>
          </a:prstGeom>
          <a:ln>
            <a:solidFill>
              <a:schemeClr val="tx1"/>
            </a:solidFill>
          </a:ln>
        </p:spPr>
      </p:pic>
      <p:pic>
        <p:nvPicPr>
          <p:cNvPr id="13" name="תמונה 12">
            <a:extLst>
              <a:ext uri="{FF2B5EF4-FFF2-40B4-BE49-F238E27FC236}">
                <a16:creationId xmlns:a16="http://schemas.microsoft.com/office/drawing/2014/main" id="{C159D116-08DD-D718-1EBD-D58279837D6D}"/>
              </a:ext>
            </a:extLst>
          </p:cNvPr>
          <p:cNvPicPr>
            <a:picLocks noChangeAspect="1"/>
          </p:cNvPicPr>
          <p:nvPr/>
        </p:nvPicPr>
        <p:blipFill>
          <a:blip r:embed="rId3"/>
          <a:srcRect b="89943"/>
          <a:stretch>
            <a:fillRect/>
          </a:stretch>
        </p:blipFill>
        <p:spPr>
          <a:xfrm>
            <a:off x="6095999" y="6072996"/>
            <a:ext cx="5695652" cy="635429"/>
          </a:xfrm>
          <a:prstGeom prst="rect">
            <a:avLst/>
          </a:prstGeom>
          <a:ln>
            <a:solidFill>
              <a:schemeClr val="tx1"/>
            </a:solidFill>
          </a:ln>
        </p:spPr>
      </p:pic>
      <p:sp>
        <p:nvSpPr>
          <p:cNvPr id="14" name="תיבת טקסט 13">
            <a:extLst>
              <a:ext uri="{FF2B5EF4-FFF2-40B4-BE49-F238E27FC236}">
                <a16:creationId xmlns:a16="http://schemas.microsoft.com/office/drawing/2014/main" id="{9CC94EB1-EF10-A3E5-2201-D25B7453694D}"/>
              </a:ext>
            </a:extLst>
          </p:cNvPr>
          <p:cNvSpPr txBox="1"/>
          <p:nvPr/>
        </p:nvSpPr>
        <p:spPr>
          <a:xfrm>
            <a:off x="4350168" y="76768"/>
            <a:ext cx="3491661" cy="307777"/>
          </a:xfrm>
          <a:prstGeom prst="rect">
            <a:avLst/>
          </a:prstGeom>
          <a:solidFill>
            <a:srgbClr val="FFFF00"/>
          </a:solidFill>
          <a:ln>
            <a:solidFill>
              <a:schemeClr val="tx1"/>
            </a:solidFill>
          </a:ln>
        </p:spPr>
        <p:txBody>
          <a:bodyPr wrap="none" rtlCol="1">
            <a:spAutoFit/>
          </a:bodyPr>
          <a:lstStyle/>
          <a:p>
            <a:r>
              <a:rPr lang="he-IL" sz="1400" b="1" dirty="0"/>
              <a:t>דיון בכנסת על העלאת </a:t>
            </a:r>
            <a:r>
              <a:rPr lang="he-IL" sz="1400" b="1" dirty="0" err="1"/>
              <a:t>הפלאשמורה</a:t>
            </a:r>
            <a:r>
              <a:rPr lang="he-IL" sz="1400" b="1" dirty="0"/>
              <a:t> מאתיופיה</a:t>
            </a:r>
          </a:p>
        </p:txBody>
      </p:sp>
      <p:pic>
        <p:nvPicPr>
          <p:cNvPr id="18" name="תמונה 17">
            <a:extLst>
              <a:ext uri="{FF2B5EF4-FFF2-40B4-BE49-F238E27FC236}">
                <a16:creationId xmlns:a16="http://schemas.microsoft.com/office/drawing/2014/main" id="{6EC0C9DB-9909-BA4E-C7E6-BA6EB7A81ACA}"/>
              </a:ext>
            </a:extLst>
          </p:cNvPr>
          <p:cNvPicPr>
            <a:picLocks noChangeAspect="1"/>
          </p:cNvPicPr>
          <p:nvPr/>
        </p:nvPicPr>
        <p:blipFill>
          <a:blip r:embed="rId5"/>
          <a:stretch>
            <a:fillRect/>
          </a:stretch>
        </p:blipFill>
        <p:spPr>
          <a:xfrm>
            <a:off x="2746853" y="488437"/>
            <a:ext cx="6721503" cy="765628"/>
          </a:xfrm>
          <a:prstGeom prst="rect">
            <a:avLst/>
          </a:prstGeom>
          <a:ln>
            <a:solidFill>
              <a:schemeClr val="tx1"/>
            </a:solidFill>
          </a:ln>
        </p:spPr>
      </p:pic>
      <p:sp>
        <p:nvSpPr>
          <p:cNvPr id="19" name="תיבת טקסט 18">
            <a:extLst>
              <a:ext uri="{FF2B5EF4-FFF2-40B4-BE49-F238E27FC236}">
                <a16:creationId xmlns:a16="http://schemas.microsoft.com/office/drawing/2014/main" id="{EB933C17-D1BA-1250-A5E8-AE3E64123EE4}"/>
              </a:ext>
            </a:extLst>
          </p:cNvPr>
          <p:cNvSpPr txBox="1"/>
          <p:nvPr/>
        </p:nvSpPr>
        <p:spPr>
          <a:xfrm>
            <a:off x="6419088" y="914400"/>
            <a:ext cx="1197864" cy="254932"/>
          </a:xfrm>
          <a:prstGeom prst="rect">
            <a:avLst/>
          </a:prstGeom>
          <a:solidFill>
            <a:schemeClr val="bg1"/>
          </a:solidFill>
        </p:spPr>
        <p:txBody>
          <a:bodyPr wrap="square" rtlCol="1">
            <a:spAutoFit/>
          </a:bodyPr>
          <a:lstStyle/>
          <a:p>
            <a:endParaRPr lang="he-IL"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93A649B5-A2D8-DA15-38BF-F99C356AC554}"/>
              </a:ext>
            </a:extLst>
          </p:cNvPr>
          <p:cNvPicPr>
            <a:picLocks noChangeAspect="1"/>
          </p:cNvPicPr>
          <p:nvPr/>
        </p:nvPicPr>
        <p:blipFill>
          <a:blip r:embed="rId2"/>
          <a:stretch>
            <a:fillRect/>
          </a:stretch>
        </p:blipFill>
        <p:spPr>
          <a:xfrm>
            <a:off x="190139" y="2514052"/>
            <a:ext cx="5764428" cy="1262419"/>
          </a:xfrm>
          <a:prstGeom prst="rect">
            <a:avLst/>
          </a:prstGeom>
          <a:ln>
            <a:solidFill>
              <a:schemeClr val="tx1"/>
            </a:solidFill>
          </a:ln>
        </p:spPr>
      </p:pic>
      <p:pic>
        <p:nvPicPr>
          <p:cNvPr id="8" name="תמונה 7">
            <a:extLst>
              <a:ext uri="{FF2B5EF4-FFF2-40B4-BE49-F238E27FC236}">
                <a16:creationId xmlns:a16="http://schemas.microsoft.com/office/drawing/2014/main" id="{7BB93BEF-39F7-DE27-140E-892AAD96DE97}"/>
              </a:ext>
            </a:extLst>
          </p:cNvPr>
          <p:cNvPicPr>
            <a:picLocks noChangeAspect="1"/>
          </p:cNvPicPr>
          <p:nvPr/>
        </p:nvPicPr>
        <p:blipFill>
          <a:blip r:embed="rId3"/>
          <a:stretch>
            <a:fillRect/>
          </a:stretch>
        </p:blipFill>
        <p:spPr>
          <a:xfrm>
            <a:off x="273280" y="4493403"/>
            <a:ext cx="5659519" cy="626816"/>
          </a:xfrm>
          <a:prstGeom prst="rect">
            <a:avLst/>
          </a:prstGeom>
          <a:ln>
            <a:solidFill>
              <a:schemeClr val="tx1"/>
            </a:solidFill>
          </a:ln>
        </p:spPr>
      </p:pic>
      <p:pic>
        <p:nvPicPr>
          <p:cNvPr id="10" name="תמונה 9">
            <a:extLst>
              <a:ext uri="{FF2B5EF4-FFF2-40B4-BE49-F238E27FC236}">
                <a16:creationId xmlns:a16="http://schemas.microsoft.com/office/drawing/2014/main" id="{D3151CA3-BA09-825D-BA1D-92891E80C801}"/>
              </a:ext>
            </a:extLst>
          </p:cNvPr>
          <p:cNvPicPr>
            <a:picLocks noChangeAspect="1"/>
          </p:cNvPicPr>
          <p:nvPr/>
        </p:nvPicPr>
        <p:blipFill>
          <a:blip r:embed="rId4"/>
          <a:stretch>
            <a:fillRect/>
          </a:stretch>
        </p:blipFill>
        <p:spPr>
          <a:xfrm>
            <a:off x="293227" y="5120219"/>
            <a:ext cx="5659518" cy="1259699"/>
          </a:xfrm>
          <a:prstGeom prst="rect">
            <a:avLst/>
          </a:prstGeom>
          <a:ln>
            <a:solidFill>
              <a:schemeClr val="tx1"/>
            </a:solidFill>
          </a:ln>
        </p:spPr>
      </p:pic>
      <p:pic>
        <p:nvPicPr>
          <p:cNvPr id="12" name="תמונה 11">
            <a:extLst>
              <a:ext uri="{FF2B5EF4-FFF2-40B4-BE49-F238E27FC236}">
                <a16:creationId xmlns:a16="http://schemas.microsoft.com/office/drawing/2014/main" id="{6436C06D-21BE-CB80-94C6-BE30FB5659EF}"/>
              </a:ext>
            </a:extLst>
          </p:cNvPr>
          <p:cNvPicPr>
            <a:picLocks noChangeAspect="1"/>
          </p:cNvPicPr>
          <p:nvPr/>
        </p:nvPicPr>
        <p:blipFill>
          <a:blip r:embed="rId5"/>
          <a:stretch>
            <a:fillRect/>
          </a:stretch>
        </p:blipFill>
        <p:spPr>
          <a:xfrm>
            <a:off x="6619719" y="2036840"/>
            <a:ext cx="5082309" cy="4638941"/>
          </a:xfrm>
          <a:prstGeom prst="rect">
            <a:avLst/>
          </a:prstGeom>
          <a:ln>
            <a:solidFill>
              <a:schemeClr val="tx1"/>
            </a:solidFill>
          </a:ln>
        </p:spPr>
      </p:pic>
      <p:pic>
        <p:nvPicPr>
          <p:cNvPr id="14" name="תמונה 13">
            <a:extLst>
              <a:ext uri="{FF2B5EF4-FFF2-40B4-BE49-F238E27FC236}">
                <a16:creationId xmlns:a16="http://schemas.microsoft.com/office/drawing/2014/main" id="{1D517B1C-0230-7820-6933-6635BE895C0D}"/>
              </a:ext>
            </a:extLst>
          </p:cNvPr>
          <p:cNvPicPr>
            <a:picLocks noChangeAspect="1"/>
          </p:cNvPicPr>
          <p:nvPr/>
        </p:nvPicPr>
        <p:blipFill>
          <a:blip r:embed="rId6"/>
          <a:stretch>
            <a:fillRect/>
          </a:stretch>
        </p:blipFill>
        <p:spPr>
          <a:xfrm>
            <a:off x="6619720" y="307388"/>
            <a:ext cx="5082308" cy="1729452"/>
          </a:xfrm>
          <a:prstGeom prst="rect">
            <a:avLst/>
          </a:prstGeom>
          <a:ln>
            <a:solidFill>
              <a:schemeClr val="tx1"/>
            </a:solidFill>
          </a:ln>
        </p:spPr>
      </p:pic>
      <p:pic>
        <p:nvPicPr>
          <p:cNvPr id="16" name="תמונה 15">
            <a:extLst>
              <a:ext uri="{FF2B5EF4-FFF2-40B4-BE49-F238E27FC236}">
                <a16:creationId xmlns:a16="http://schemas.microsoft.com/office/drawing/2014/main" id="{60D6013F-B8CA-F790-D262-CCE5B41F001F}"/>
              </a:ext>
            </a:extLst>
          </p:cNvPr>
          <p:cNvPicPr>
            <a:picLocks noChangeAspect="1"/>
          </p:cNvPicPr>
          <p:nvPr/>
        </p:nvPicPr>
        <p:blipFill>
          <a:blip r:embed="rId5"/>
          <a:srcRect t="72027"/>
          <a:stretch>
            <a:fillRect/>
          </a:stretch>
        </p:blipFill>
        <p:spPr>
          <a:xfrm>
            <a:off x="225887" y="307388"/>
            <a:ext cx="5754306" cy="1469210"/>
          </a:xfrm>
          <a:prstGeom prst="rect">
            <a:avLst/>
          </a:prstGeom>
          <a:ln>
            <a:solidFill>
              <a:schemeClr val="tx1"/>
            </a:solidFill>
          </a:ln>
        </p:spPr>
      </p:pic>
      <p:sp>
        <p:nvSpPr>
          <p:cNvPr id="17" name="תיבת טקסט 16">
            <a:extLst>
              <a:ext uri="{FF2B5EF4-FFF2-40B4-BE49-F238E27FC236}">
                <a16:creationId xmlns:a16="http://schemas.microsoft.com/office/drawing/2014/main" id="{9195B5D2-7CE8-93B2-EB17-30C97E65DB88}"/>
              </a:ext>
            </a:extLst>
          </p:cNvPr>
          <p:cNvSpPr txBox="1"/>
          <p:nvPr/>
        </p:nvSpPr>
        <p:spPr>
          <a:xfrm>
            <a:off x="225887" y="6379918"/>
            <a:ext cx="1050289" cy="307777"/>
          </a:xfrm>
          <a:prstGeom prst="rect">
            <a:avLst/>
          </a:prstGeom>
          <a:noFill/>
        </p:spPr>
        <p:txBody>
          <a:bodyPr wrap="none" rtlCol="1">
            <a:spAutoFit/>
          </a:bodyPr>
          <a:lstStyle/>
          <a:p>
            <a:r>
              <a:rPr lang="he-IL" sz="1400" b="1" dirty="0"/>
              <a:t>אתר הכנסת</a:t>
            </a:r>
          </a:p>
        </p:txBody>
      </p:sp>
    </p:spTree>
    <p:extLst>
      <p:ext uri="{BB962C8B-B14F-4D97-AF65-F5344CB8AC3E}">
        <p14:creationId xmlns:p14="http://schemas.microsoft.com/office/powerpoint/2010/main" val="2894881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F9F5E5A8-29C2-0733-03AC-B01E2004DDD2}"/>
              </a:ext>
            </a:extLst>
          </p:cNvPr>
          <p:cNvPicPr>
            <a:picLocks noChangeAspect="1"/>
          </p:cNvPicPr>
          <p:nvPr/>
        </p:nvPicPr>
        <p:blipFill>
          <a:blip r:embed="rId2"/>
          <a:srcRect t="1313" b="1"/>
          <a:stretch>
            <a:fillRect/>
          </a:stretch>
        </p:blipFill>
        <p:spPr>
          <a:xfrm>
            <a:off x="456774" y="1806591"/>
            <a:ext cx="4316393" cy="4926627"/>
          </a:xfrm>
          <a:prstGeom prst="rect">
            <a:avLst/>
          </a:prstGeom>
          <a:ln>
            <a:solidFill>
              <a:schemeClr val="tx1"/>
            </a:solidFill>
          </a:ln>
        </p:spPr>
      </p:pic>
      <p:pic>
        <p:nvPicPr>
          <p:cNvPr id="5" name="תמונה 4">
            <a:extLst>
              <a:ext uri="{FF2B5EF4-FFF2-40B4-BE49-F238E27FC236}">
                <a16:creationId xmlns:a16="http://schemas.microsoft.com/office/drawing/2014/main" id="{4EB63CFC-8CC4-0A36-2680-7B6A45FF2A4B}"/>
              </a:ext>
            </a:extLst>
          </p:cNvPr>
          <p:cNvPicPr>
            <a:picLocks noChangeAspect="1"/>
          </p:cNvPicPr>
          <p:nvPr/>
        </p:nvPicPr>
        <p:blipFill>
          <a:blip r:embed="rId3"/>
          <a:stretch>
            <a:fillRect/>
          </a:stretch>
        </p:blipFill>
        <p:spPr>
          <a:xfrm>
            <a:off x="6697204" y="1806591"/>
            <a:ext cx="4172551" cy="4926627"/>
          </a:xfrm>
          <a:prstGeom prst="rect">
            <a:avLst/>
          </a:prstGeom>
        </p:spPr>
      </p:pic>
      <p:sp>
        <p:nvSpPr>
          <p:cNvPr id="4" name="תיבת טקסט 3">
            <a:extLst>
              <a:ext uri="{FF2B5EF4-FFF2-40B4-BE49-F238E27FC236}">
                <a16:creationId xmlns:a16="http://schemas.microsoft.com/office/drawing/2014/main" id="{38C38160-5E1E-46F0-7806-79235651BF0B}"/>
              </a:ext>
            </a:extLst>
          </p:cNvPr>
          <p:cNvSpPr txBox="1"/>
          <p:nvPr/>
        </p:nvSpPr>
        <p:spPr>
          <a:xfrm>
            <a:off x="312420" y="124782"/>
            <a:ext cx="11567160" cy="579261"/>
          </a:xfrm>
          <a:prstGeom prst="rect">
            <a:avLst/>
          </a:prstGeom>
          <a:solidFill>
            <a:srgbClr val="FFFF00"/>
          </a:solidFill>
          <a:ln>
            <a:solidFill>
              <a:schemeClr val="tx1"/>
            </a:solidFill>
          </a:ln>
        </p:spPr>
        <p:txBody>
          <a:bodyPr wrap="square">
            <a:spAutoFit/>
          </a:bodyPr>
          <a:lstStyle/>
          <a:p>
            <a:pPr algn="just" rtl="1">
              <a:lnSpc>
                <a:spcPct val="115000"/>
              </a:lnSpc>
              <a:spcAft>
                <a:spcPts val="800"/>
              </a:spcAft>
              <a:buNone/>
            </a:pPr>
            <a:r>
              <a:rPr lang="he-IL" sz="1400" b="1" kern="100" dirty="0">
                <a:solidFill>
                  <a:srgbClr val="FF0000"/>
                </a:solidFill>
                <a:effectLst/>
                <a:latin typeface="Aptos" panose="020B0004020202020204" pitchFamily="34" charset="0"/>
                <a:ea typeface="Aptos" panose="020B0004020202020204" pitchFamily="34" charset="0"/>
                <a:cs typeface="David" panose="020E0502060401010101" pitchFamily="34" charset="-79"/>
              </a:rPr>
              <a:t>כ"ה באדר ב'-א' ניסן תשנ"ז, 1997 – </a:t>
            </a:r>
            <a:r>
              <a:rPr lang="he-IL" sz="1400" b="1" kern="100" dirty="0">
                <a:effectLst/>
                <a:latin typeface="Aptos" panose="020B0004020202020204" pitchFamily="34" charset="0"/>
                <a:ea typeface="Aptos" panose="020B0004020202020204" pitchFamily="34" charset="0"/>
                <a:cs typeface="David" panose="020E0502060401010101" pitchFamily="34" charset="-79"/>
              </a:rPr>
              <a:t>טס לאדיס אבבה בירת אתיופיה, כדי לבקר במחנות ההמתנה בו שכנו כארבעת אלפים בני קהילת 'ביתא ישראל'. לאחר שהכין דו"ח מרגש על המסירות הרבה של קהילה זו ליהדות, והתנאים הקשים ביותר במחנות אלו, הממשלה החליטה להעלותם לארץ. </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p:txBody>
      </p:sp>
      <p:pic>
        <p:nvPicPr>
          <p:cNvPr id="11" name="תמונה 10">
            <a:extLst>
              <a:ext uri="{FF2B5EF4-FFF2-40B4-BE49-F238E27FC236}">
                <a16:creationId xmlns:a16="http://schemas.microsoft.com/office/drawing/2014/main" id="{D5F25401-4420-9E44-9D7C-DC6441F6D4B9}"/>
              </a:ext>
            </a:extLst>
          </p:cNvPr>
          <p:cNvPicPr>
            <a:picLocks noChangeAspect="1"/>
          </p:cNvPicPr>
          <p:nvPr/>
        </p:nvPicPr>
        <p:blipFill>
          <a:blip r:embed="rId4"/>
          <a:srcRect t="56694" r="4733" b="31787"/>
          <a:stretch>
            <a:fillRect/>
          </a:stretch>
        </p:blipFill>
        <p:spPr>
          <a:xfrm>
            <a:off x="2745157" y="846426"/>
            <a:ext cx="6703348" cy="817782"/>
          </a:xfrm>
          <a:prstGeom prst="rect">
            <a:avLst/>
          </a:prstGeom>
          <a:ln>
            <a:solidFill>
              <a:schemeClr val="tx1"/>
            </a:solidFill>
          </a:ln>
        </p:spPr>
      </p:pic>
      <p:sp>
        <p:nvSpPr>
          <p:cNvPr id="12" name="תיבת טקסט 11">
            <a:extLst>
              <a:ext uri="{FF2B5EF4-FFF2-40B4-BE49-F238E27FC236}">
                <a16:creationId xmlns:a16="http://schemas.microsoft.com/office/drawing/2014/main" id="{E1D1F40C-C4F7-3266-E0DA-FF60FBCB09F1}"/>
              </a:ext>
            </a:extLst>
          </p:cNvPr>
          <p:cNvSpPr txBox="1"/>
          <p:nvPr/>
        </p:nvSpPr>
        <p:spPr>
          <a:xfrm>
            <a:off x="7040880" y="1362456"/>
            <a:ext cx="1874520" cy="237744"/>
          </a:xfrm>
          <a:prstGeom prst="rect">
            <a:avLst/>
          </a:prstGeom>
          <a:solidFill>
            <a:schemeClr val="bg1"/>
          </a:solidFill>
        </p:spPr>
        <p:txBody>
          <a:bodyPr wrap="square" rtlCol="1">
            <a:spAutoFit/>
          </a:bodyPr>
          <a:lstStyle/>
          <a:p>
            <a:endParaRPr lang="he-IL" dirty="0"/>
          </a:p>
        </p:txBody>
      </p:sp>
    </p:spTree>
    <p:extLst>
      <p:ext uri="{BB962C8B-B14F-4D97-AF65-F5344CB8AC3E}">
        <p14:creationId xmlns:p14="http://schemas.microsoft.com/office/powerpoint/2010/main" val="296880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00E9E839-5245-8C87-0B78-44B60D298739}"/>
              </a:ext>
            </a:extLst>
          </p:cNvPr>
          <p:cNvPicPr>
            <a:picLocks noChangeAspect="1"/>
          </p:cNvPicPr>
          <p:nvPr/>
        </p:nvPicPr>
        <p:blipFill>
          <a:blip r:embed="rId2"/>
          <a:stretch>
            <a:fillRect/>
          </a:stretch>
        </p:blipFill>
        <p:spPr>
          <a:xfrm>
            <a:off x="7364234" y="129000"/>
            <a:ext cx="3928420" cy="6348327"/>
          </a:xfrm>
          <a:prstGeom prst="rect">
            <a:avLst/>
          </a:prstGeom>
          <a:ln>
            <a:solidFill>
              <a:schemeClr val="tx1"/>
            </a:solidFill>
          </a:ln>
        </p:spPr>
      </p:pic>
      <p:pic>
        <p:nvPicPr>
          <p:cNvPr id="5" name="תמונה 4">
            <a:extLst>
              <a:ext uri="{FF2B5EF4-FFF2-40B4-BE49-F238E27FC236}">
                <a16:creationId xmlns:a16="http://schemas.microsoft.com/office/drawing/2014/main" id="{E58353FE-0DB3-BCEA-3A8A-26F06A225E0E}"/>
              </a:ext>
            </a:extLst>
          </p:cNvPr>
          <p:cNvPicPr>
            <a:picLocks noChangeAspect="1"/>
          </p:cNvPicPr>
          <p:nvPr/>
        </p:nvPicPr>
        <p:blipFill>
          <a:blip r:embed="rId3"/>
          <a:stretch>
            <a:fillRect/>
          </a:stretch>
        </p:blipFill>
        <p:spPr>
          <a:xfrm>
            <a:off x="1463417" y="180487"/>
            <a:ext cx="3874208" cy="6245352"/>
          </a:xfrm>
          <a:prstGeom prst="rect">
            <a:avLst/>
          </a:prstGeom>
          <a:ln>
            <a:solidFill>
              <a:schemeClr val="tx1"/>
            </a:solidFill>
          </a:ln>
        </p:spPr>
      </p:pic>
    </p:spTree>
    <p:extLst>
      <p:ext uri="{BB962C8B-B14F-4D97-AF65-F5344CB8AC3E}">
        <p14:creationId xmlns:p14="http://schemas.microsoft.com/office/powerpoint/2010/main" val="10563937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FAFCE6C1-3EF5-7DD3-738C-8467C41261E5}"/>
              </a:ext>
            </a:extLst>
          </p:cNvPr>
          <p:cNvPicPr>
            <a:picLocks noChangeAspect="1"/>
          </p:cNvPicPr>
          <p:nvPr/>
        </p:nvPicPr>
        <p:blipFill>
          <a:blip r:embed="rId2"/>
          <a:stretch>
            <a:fillRect/>
          </a:stretch>
        </p:blipFill>
        <p:spPr>
          <a:xfrm>
            <a:off x="6534182" y="192024"/>
            <a:ext cx="4213763" cy="6473952"/>
          </a:xfrm>
          <a:prstGeom prst="rect">
            <a:avLst/>
          </a:prstGeom>
          <a:ln>
            <a:solidFill>
              <a:schemeClr val="tx1"/>
            </a:solidFill>
          </a:ln>
        </p:spPr>
      </p:pic>
      <p:pic>
        <p:nvPicPr>
          <p:cNvPr id="7" name="תמונה 6">
            <a:extLst>
              <a:ext uri="{FF2B5EF4-FFF2-40B4-BE49-F238E27FC236}">
                <a16:creationId xmlns:a16="http://schemas.microsoft.com/office/drawing/2014/main" id="{9393216B-A89F-5ECB-1A5B-2E56DE5052C5}"/>
              </a:ext>
            </a:extLst>
          </p:cNvPr>
          <p:cNvPicPr>
            <a:picLocks noChangeAspect="1"/>
          </p:cNvPicPr>
          <p:nvPr/>
        </p:nvPicPr>
        <p:blipFill>
          <a:blip r:embed="rId3"/>
          <a:stretch>
            <a:fillRect/>
          </a:stretch>
        </p:blipFill>
        <p:spPr>
          <a:xfrm>
            <a:off x="1207008" y="192024"/>
            <a:ext cx="3912735" cy="6445458"/>
          </a:xfrm>
          <a:prstGeom prst="rect">
            <a:avLst/>
          </a:prstGeom>
          <a:ln>
            <a:solidFill>
              <a:schemeClr val="tx1"/>
            </a:solidFill>
          </a:ln>
        </p:spPr>
      </p:pic>
    </p:spTree>
    <p:extLst>
      <p:ext uri="{BB962C8B-B14F-4D97-AF65-F5344CB8AC3E}">
        <p14:creationId xmlns:p14="http://schemas.microsoft.com/office/powerpoint/2010/main" val="10912904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450B9896-F49D-2325-7563-F0E4156B600F}"/>
              </a:ext>
            </a:extLst>
          </p:cNvPr>
          <p:cNvPicPr>
            <a:picLocks noChangeAspect="1"/>
          </p:cNvPicPr>
          <p:nvPr/>
        </p:nvPicPr>
        <p:blipFill>
          <a:blip r:embed="rId2"/>
          <a:stretch>
            <a:fillRect/>
          </a:stretch>
        </p:blipFill>
        <p:spPr>
          <a:xfrm>
            <a:off x="7214616" y="196214"/>
            <a:ext cx="3888028" cy="6415648"/>
          </a:xfrm>
          <a:prstGeom prst="rect">
            <a:avLst/>
          </a:prstGeom>
          <a:ln>
            <a:solidFill>
              <a:schemeClr val="tx1"/>
            </a:solidFill>
          </a:ln>
        </p:spPr>
      </p:pic>
      <p:pic>
        <p:nvPicPr>
          <p:cNvPr id="5" name="תמונה 4">
            <a:extLst>
              <a:ext uri="{FF2B5EF4-FFF2-40B4-BE49-F238E27FC236}">
                <a16:creationId xmlns:a16="http://schemas.microsoft.com/office/drawing/2014/main" id="{C986B757-1554-777E-70BD-150E19243D27}"/>
              </a:ext>
            </a:extLst>
          </p:cNvPr>
          <p:cNvPicPr>
            <a:picLocks noChangeAspect="1"/>
          </p:cNvPicPr>
          <p:nvPr/>
        </p:nvPicPr>
        <p:blipFill>
          <a:blip r:embed="rId3"/>
          <a:stretch>
            <a:fillRect/>
          </a:stretch>
        </p:blipFill>
        <p:spPr>
          <a:xfrm>
            <a:off x="1534288" y="196213"/>
            <a:ext cx="3888028" cy="6480047"/>
          </a:xfrm>
          <a:prstGeom prst="rect">
            <a:avLst/>
          </a:prstGeom>
          <a:ln>
            <a:solidFill>
              <a:schemeClr val="tx1"/>
            </a:solidFill>
          </a:ln>
        </p:spPr>
      </p:pic>
    </p:spTree>
    <p:extLst>
      <p:ext uri="{BB962C8B-B14F-4D97-AF65-F5344CB8AC3E}">
        <p14:creationId xmlns:p14="http://schemas.microsoft.com/office/powerpoint/2010/main" val="2876981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DE0E6164-0070-343D-FCA4-A9C9E6708149}"/>
              </a:ext>
            </a:extLst>
          </p:cNvPr>
          <p:cNvPicPr>
            <a:picLocks noChangeAspect="1"/>
          </p:cNvPicPr>
          <p:nvPr/>
        </p:nvPicPr>
        <p:blipFill>
          <a:blip r:embed="rId2"/>
          <a:stretch>
            <a:fillRect/>
          </a:stretch>
        </p:blipFill>
        <p:spPr>
          <a:xfrm>
            <a:off x="7404028" y="285750"/>
            <a:ext cx="3710331" cy="6286500"/>
          </a:xfrm>
          <a:prstGeom prst="rect">
            <a:avLst/>
          </a:prstGeom>
          <a:ln>
            <a:solidFill>
              <a:schemeClr val="tx1"/>
            </a:solidFill>
          </a:ln>
        </p:spPr>
      </p:pic>
      <p:sp>
        <p:nvSpPr>
          <p:cNvPr id="6" name="תיבת טקסט 5">
            <a:extLst>
              <a:ext uri="{FF2B5EF4-FFF2-40B4-BE49-F238E27FC236}">
                <a16:creationId xmlns:a16="http://schemas.microsoft.com/office/drawing/2014/main" id="{EC7B6BCE-0F9A-792D-C0B5-BAE0DC11DA31}"/>
              </a:ext>
            </a:extLst>
          </p:cNvPr>
          <p:cNvSpPr txBox="1"/>
          <p:nvPr/>
        </p:nvSpPr>
        <p:spPr>
          <a:xfrm>
            <a:off x="5156297" y="6242446"/>
            <a:ext cx="2247731" cy="307777"/>
          </a:xfrm>
          <a:prstGeom prst="rect">
            <a:avLst/>
          </a:prstGeom>
          <a:noFill/>
        </p:spPr>
        <p:txBody>
          <a:bodyPr wrap="none" rtlCol="1">
            <a:spAutoFit/>
          </a:bodyPr>
          <a:lstStyle/>
          <a:p>
            <a:r>
              <a:rPr lang="he-IL" sz="1400" b="1" dirty="0"/>
              <a:t>ארכיון המדינה, גל- 47186/5</a:t>
            </a:r>
          </a:p>
        </p:txBody>
      </p:sp>
      <p:pic>
        <p:nvPicPr>
          <p:cNvPr id="8" name="תמונה 7">
            <a:extLst>
              <a:ext uri="{FF2B5EF4-FFF2-40B4-BE49-F238E27FC236}">
                <a16:creationId xmlns:a16="http://schemas.microsoft.com/office/drawing/2014/main" id="{97576F34-8001-3A6D-8490-054BCF053632}"/>
              </a:ext>
            </a:extLst>
          </p:cNvPr>
          <p:cNvPicPr>
            <a:picLocks noChangeAspect="1"/>
          </p:cNvPicPr>
          <p:nvPr/>
        </p:nvPicPr>
        <p:blipFill>
          <a:blip r:embed="rId3"/>
          <a:srcRect l="1765" t="3094" r="3731" b="868"/>
          <a:stretch>
            <a:fillRect/>
          </a:stretch>
        </p:blipFill>
        <p:spPr>
          <a:xfrm>
            <a:off x="840520" y="285750"/>
            <a:ext cx="4523040" cy="5254984"/>
          </a:xfrm>
          <a:prstGeom prst="rect">
            <a:avLst/>
          </a:prstGeom>
          <a:ln>
            <a:solidFill>
              <a:schemeClr val="tx1"/>
            </a:solidFill>
          </a:ln>
        </p:spPr>
      </p:pic>
      <p:sp>
        <p:nvSpPr>
          <p:cNvPr id="10" name="תיבת טקסט 9">
            <a:extLst>
              <a:ext uri="{FF2B5EF4-FFF2-40B4-BE49-F238E27FC236}">
                <a16:creationId xmlns:a16="http://schemas.microsoft.com/office/drawing/2014/main" id="{FF7B2372-5B40-351E-2A6C-D58FAB4D9F67}"/>
              </a:ext>
            </a:extLst>
          </p:cNvPr>
          <p:cNvSpPr txBox="1"/>
          <p:nvPr/>
        </p:nvSpPr>
        <p:spPr>
          <a:xfrm>
            <a:off x="0" y="5605272"/>
            <a:ext cx="6021200" cy="307777"/>
          </a:xfrm>
          <a:prstGeom prst="rect">
            <a:avLst/>
          </a:prstGeom>
          <a:noFill/>
        </p:spPr>
        <p:txBody>
          <a:bodyPr wrap="none" rtlCol="1">
            <a:spAutoFit/>
          </a:bodyPr>
          <a:lstStyle/>
          <a:p>
            <a:r>
              <a:rPr lang="he-IL" sz="1400" b="1" dirty="0"/>
              <a:t>דו"ח על הביקור שמסר לראשון לציון הרב הראשי לישראל, הרב אליהו בקשי-דורון</a:t>
            </a:r>
          </a:p>
        </p:txBody>
      </p:sp>
      <p:sp>
        <p:nvSpPr>
          <p:cNvPr id="12" name="תיבת טקסט 11">
            <a:extLst>
              <a:ext uri="{FF2B5EF4-FFF2-40B4-BE49-F238E27FC236}">
                <a16:creationId xmlns:a16="http://schemas.microsoft.com/office/drawing/2014/main" id="{7714A7F0-F32B-8C5D-1A97-420DFD41D7DF}"/>
              </a:ext>
            </a:extLst>
          </p:cNvPr>
          <p:cNvSpPr txBox="1"/>
          <p:nvPr/>
        </p:nvSpPr>
        <p:spPr>
          <a:xfrm>
            <a:off x="6090062" y="6550223"/>
            <a:ext cx="6017994" cy="307777"/>
          </a:xfrm>
          <a:prstGeom prst="rect">
            <a:avLst/>
          </a:prstGeom>
          <a:noFill/>
        </p:spPr>
        <p:txBody>
          <a:bodyPr wrap="none" rtlCol="1">
            <a:spAutoFit/>
          </a:bodyPr>
          <a:lstStyle/>
          <a:p>
            <a:r>
              <a:rPr lang="he-IL" sz="1400" b="1" dirty="0"/>
              <a:t>דו"ח על הביקור שמסר לראש הממשלה, בנימין נתניהו, ולמשרדים הנוגעים בדבר</a:t>
            </a:r>
          </a:p>
        </p:txBody>
      </p:sp>
    </p:spTree>
    <p:extLst>
      <p:ext uri="{BB962C8B-B14F-4D97-AF65-F5344CB8AC3E}">
        <p14:creationId xmlns:p14="http://schemas.microsoft.com/office/powerpoint/2010/main" val="38341020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descr="ביתא ישראל חוברת לעם ישראל - איילת גרשוני. | הלו&quot;ז העברי">
            <a:extLst>
              <a:ext uri="{FF2B5EF4-FFF2-40B4-BE49-F238E27FC236}">
                <a16:creationId xmlns:a16="http://schemas.microsoft.com/office/drawing/2014/main" id="{453E15BB-FC97-3756-6C61-DA4A9C9E98BE}"/>
              </a:ext>
            </a:extLst>
          </p:cNvPr>
          <p:cNvPicPr>
            <a:picLocks noChangeAspect="1"/>
          </p:cNvPicPr>
          <p:nvPr/>
        </p:nvPicPr>
        <p:blipFill>
          <a:blip r:embed="rId2"/>
          <a:srcRect l="1205" t="3154" r="1107" b="2358"/>
          <a:stretch>
            <a:fillRect/>
          </a:stretch>
        </p:blipFill>
        <p:spPr>
          <a:xfrm>
            <a:off x="6373368" y="868681"/>
            <a:ext cx="5474752" cy="3557016"/>
          </a:xfrm>
          <a:prstGeom prst="rect">
            <a:avLst/>
          </a:prstGeom>
          <a:ln>
            <a:solidFill>
              <a:schemeClr val="tx1"/>
            </a:solidFill>
          </a:ln>
        </p:spPr>
      </p:pic>
      <p:pic>
        <p:nvPicPr>
          <p:cNvPr id="4" name="תמונה 3">
            <a:extLst>
              <a:ext uri="{FF2B5EF4-FFF2-40B4-BE49-F238E27FC236}">
                <a16:creationId xmlns:a16="http://schemas.microsoft.com/office/drawing/2014/main" id="{BA67940C-8ED0-EA0D-A525-24ADF83F6A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32" y="868681"/>
            <a:ext cx="5542280" cy="2062480"/>
          </a:xfrm>
          <a:prstGeom prst="rect">
            <a:avLst/>
          </a:prstGeom>
          <a:ln>
            <a:solidFill>
              <a:sysClr val="windowText" lastClr="000000"/>
            </a:solidFill>
          </a:ln>
        </p:spPr>
      </p:pic>
      <p:sp>
        <p:nvSpPr>
          <p:cNvPr id="6" name="תיבת טקסט 1">
            <a:extLst>
              <a:ext uri="{FF2B5EF4-FFF2-40B4-BE49-F238E27FC236}">
                <a16:creationId xmlns:a16="http://schemas.microsoft.com/office/drawing/2014/main" id="{E167B86A-4D2C-8728-266C-9F5D5E5334F2}"/>
              </a:ext>
            </a:extLst>
          </p:cNvPr>
          <p:cNvSpPr txBox="1"/>
          <p:nvPr/>
        </p:nvSpPr>
        <p:spPr>
          <a:xfrm>
            <a:off x="254354" y="2931161"/>
            <a:ext cx="4505325" cy="302260"/>
          </a:xfrm>
          <a:prstGeom prst="rect">
            <a:avLst/>
          </a:prstGeom>
          <a:noFill/>
          <a:ln w="6350">
            <a:noFill/>
          </a:ln>
        </p:spPr>
        <p:txBody>
          <a:bodyPr rot="0" spcFirstLastPara="0" vert="horz" wrap="none" lIns="91440" tIns="45720" rIns="91440" bIns="45720" numCol="1" spcCol="0" rtlCol="1" fromWordArt="0" anchor="t" anchorCtr="0" forceAA="0" compatLnSpc="1">
            <a:prstTxWarp prst="textNoShape">
              <a:avLst/>
            </a:prstTxWarp>
            <a:spAutoFit/>
          </a:bodyPr>
          <a:lstStyle/>
          <a:p>
            <a:pPr algn="r" rtl="0">
              <a:lnSpc>
                <a:spcPct val="115000"/>
              </a:lnSpc>
              <a:spcAft>
                <a:spcPts val="800"/>
              </a:spcAft>
              <a:buNone/>
            </a:pPr>
            <a:r>
              <a:rPr lang="he-IL" sz="14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ערב 'חיים שכאלה', עדי </a:t>
            </a:r>
            <a:r>
              <a:rPr lang="he-IL" sz="1400" b="1" kern="0" dirty="0" err="1">
                <a:solidFill>
                  <a:srgbClr val="000000"/>
                </a:solidFill>
                <a:effectLst/>
                <a:latin typeface="Aptos" panose="020B0004020202020204" pitchFamily="34" charset="0"/>
                <a:ea typeface="Times New Roman" panose="02020603050405020304" pitchFamily="18" charset="0"/>
                <a:cs typeface="Arial" panose="020B0604020202020204" pitchFamily="34" charset="0"/>
              </a:rPr>
              <a:t>גרסיאל</a:t>
            </a:r>
            <a:r>
              <a:rPr lang="he-IL" sz="1400" b="1" kern="0" dirty="0">
                <a:solidFill>
                  <a:srgbClr val="000000"/>
                </a:solidFill>
                <a:effectLst/>
                <a:latin typeface="Aptos" panose="020B0004020202020204" pitchFamily="34" charset="0"/>
                <a:ea typeface="Times New Roman" panose="02020603050405020304" pitchFamily="18" charset="0"/>
                <a:cs typeface="Arial" panose="020B0604020202020204" pitchFamily="34" charset="0"/>
              </a:rPr>
              <a:t>, כ"ג בכסלו תשס"ד, ערוץ 7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תיבת טקסט 8">
            <a:extLst>
              <a:ext uri="{FF2B5EF4-FFF2-40B4-BE49-F238E27FC236}">
                <a16:creationId xmlns:a16="http://schemas.microsoft.com/office/drawing/2014/main" id="{01C0DCB2-4DA9-E8DB-BAA8-2ABB8CCBB734}"/>
              </a:ext>
            </a:extLst>
          </p:cNvPr>
          <p:cNvSpPr txBox="1"/>
          <p:nvPr/>
        </p:nvSpPr>
        <p:spPr>
          <a:xfrm>
            <a:off x="7919285" y="4553711"/>
            <a:ext cx="2427267" cy="307777"/>
          </a:xfrm>
          <a:prstGeom prst="rect">
            <a:avLst/>
          </a:prstGeom>
          <a:noFill/>
        </p:spPr>
        <p:txBody>
          <a:bodyPr wrap="none" rtlCol="1">
            <a:spAutoFit/>
          </a:bodyPr>
          <a:lstStyle/>
          <a:p>
            <a:r>
              <a:rPr lang="he-IL" sz="1400" b="1" dirty="0"/>
              <a:t>המחנה באדיס אבבה באתיופיה</a:t>
            </a:r>
          </a:p>
        </p:txBody>
      </p:sp>
    </p:spTree>
    <p:extLst>
      <p:ext uri="{BB962C8B-B14F-4D97-AF65-F5344CB8AC3E}">
        <p14:creationId xmlns:p14="http://schemas.microsoft.com/office/powerpoint/2010/main" val="2931312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FD09B392-5259-A28A-3FD6-C6BBA67D3B78}"/>
              </a:ext>
            </a:extLst>
          </p:cNvPr>
          <p:cNvPicPr>
            <a:picLocks noChangeAspect="1"/>
          </p:cNvPicPr>
          <p:nvPr/>
        </p:nvPicPr>
        <p:blipFill>
          <a:blip r:embed="rId2"/>
          <a:stretch>
            <a:fillRect/>
          </a:stretch>
        </p:blipFill>
        <p:spPr>
          <a:xfrm>
            <a:off x="1255432" y="162501"/>
            <a:ext cx="4840568" cy="5875658"/>
          </a:xfrm>
          <a:prstGeom prst="rect">
            <a:avLst/>
          </a:prstGeom>
          <a:ln>
            <a:solidFill>
              <a:schemeClr val="tx1"/>
            </a:solidFill>
          </a:ln>
        </p:spPr>
      </p:pic>
      <p:sp>
        <p:nvSpPr>
          <p:cNvPr id="10" name="תיבת טקסט 9">
            <a:extLst>
              <a:ext uri="{FF2B5EF4-FFF2-40B4-BE49-F238E27FC236}">
                <a16:creationId xmlns:a16="http://schemas.microsoft.com/office/drawing/2014/main" id="{E1263FBF-6F88-A3D2-9258-E23842E2A2C6}"/>
              </a:ext>
            </a:extLst>
          </p:cNvPr>
          <p:cNvSpPr txBox="1"/>
          <p:nvPr/>
        </p:nvSpPr>
        <p:spPr>
          <a:xfrm>
            <a:off x="500698" y="6106603"/>
            <a:ext cx="6300123" cy="307777"/>
          </a:xfrm>
          <a:prstGeom prst="rect">
            <a:avLst/>
          </a:prstGeom>
          <a:noFill/>
        </p:spPr>
        <p:txBody>
          <a:bodyPr wrap="none" rtlCol="1">
            <a:spAutoFit/>
          </a:bodyPr>
          <a:lstStyle/>
          <a:p>
            <a:r>
              <a:rPr lang="he-IL" sz="1400" b="1" dirty="0"/>
              <a:t>הרב יובל </a:t>
            </a:r>
            <a:r>
              <a:rPr lang="he-IL" sz="1400" b="1" dirty="0" err="1"/>
              <a:t>אהלי</a:t>
            </a:r>
            <a:r>
              <a:rPr lang="he-IL" sz="1400" b="1" dirty="0"/>
              <a:t> (עורך), מעט מן טוב: לדמותו ותורתו של חנן פורת, יסודות, עמ' 40-41</a:t>
            </a:r>
          </a:p>
        </p:txBody>
      </p:sp>
      <p:pic>
        <p:nvPicPr>
          <p:cNvPr id="12" name="תמונה 11">
            <a:extLst>
              <a:ext uri="{FF2B5EF4-FFF2-40B4-BE49-F238E27FC236}">
                <a16:creationId xmlns:a16="http://schemas.microsoft.com/office/drawing/2014/main" id="{1EC02596-CEDD-215E-CE6A-1AC34FA7E2F9}"/>
              </a:ext>
            </a:extLst>
          </p:cNvPr>
          <p:cNvPicPr>
            <a:picLocks noChangeAspect="1"/>
          </p:cNvPicPr>
          <p:nvPr/>
        </p:nvPicPr>
        <p:blipFill>
          <a:blip r:embed="rId3"/>
          <a:stretch>
            <a:fillRect/>
          </a:stretch>
        </p:blipFill>
        <p:spPr>
          <a:xfrm>
            <a:off x="6821424" y="162501"/>
            <a:ext cx="4629796" cy="3524742"/>
          </a:xfrm>
          <a:prstGeom prst="rect">
            <a:avLst/>
          </a:prstGeom>
          <a:ln>
            <a:solidFill>
              <a:schemeClr val="tx1"/>
            </a:solidFill>
          </a:ln>
        </p:spPr>
      </p:pic>
      <p:pic>
        <p:nvPicPr>
          <p:cNvPr id="14" name="תמונה 13">
            <a:extLst>
              <a:ext uri="{FF2B5EF4-FFF2-40B4-BE49-F238E27FC236}">
                <a16:creationId xmlns:a16="http://schemas.microsoft.com/office/drawing/2014/main" id="{1D77D5C8-2ED6-AD9C-1193-094B2BFB9F9F}"/>
              </a:ext>
            </a:extLst>
          </p:cNvPr>
          <p:cNvPicPr>
            <a:picLocks noChangeAspect="1"/>
          </p:cNvPicPr>
          <p:nvPr/>
        </p:nvPicPr>
        <p:blipFill>
          <a:blip r:embed="rId4"/>
          <a:stretch>
            <a:fillRect/>
          </a:stretch>
        </p:blipFill>
        <p:spPr>
          <a:xfrm>
            <a:off x="7505642" y="3814473"/>
            <a:ext cx="3261359" cy="2446019"/>
          </a:xfrm>
          <a:prstGeom prst="rect">
            <a:avLst/>
          </a:prstGeom>
          <a:ln>
            <a:solidFill>
              <a:schemeClr val="tx1"/>
            </a:solidFill>
          </a:ln>
        </p:spPr>
      </p:pic>
      <p:sp>
        <p:nvSpPr>
          <p:cNvPr id="15" name="תיבת טקסט 14">
            <a:extLst>
              <a:ext uri="{FF2B5EF4-FFF2-40B4-BE49-F238E27FC236}">
                <a16:creationId xmlns:a16="http://schemas.microsoft.com/office/drawing/2014/main" id="{ED96480E-A8B2-3911-6188-FA339C295242}"/>
              </a:ext>
            </a:extLst>
          </p:cNvPr>
          <p:cNvSpPr txBox="1"/>
          <p:nvPr/>
        </p:nvSpPr>
        <p:spPr>
          <a:xfrm>
            <a:off x="6932032" y="6301503"/>
            <a:ext cx="4408578" cy="307777"/>
          </a:xfrm>
          <a:prstGeom prst="rect">
            <a:avLst/>
          </a:prstGeom>
          <a:noFill/>
        </p:spPr>
        <p:txBody>
          <a:bodyPr wrap="none" rtlCol="1">
            <a:spAutoFit/>
          </a:bodyPr>
          <a:lstStyle/>
          <a:p>
            <a:r>
              <a:rPr lang="he-IL" sz="1400" b="1" dirty="0"/>
              <a:t>עולים מאתיופיה בחג הסיגד בטיילת ארמון הנציב בירושלים</a:t>
            </a:r>
          </a:p>
        </p:txBody>
      </p:sp>
    </p:spTree>
    <p:extLst>
      <p:ext uri="{BB962C8B-B14F-4D97-AF65-F5344CB8AC3E}">
        <p14:creationId xmlns:p14="http://schemas.microsoft.com/office/powerpoint/2010/main" val="23251443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74BDCF24-A61A-59AD-2476-90F418ECF553}"/>
              </a:ext>
            </a:extLst>
          </p:cNvPr>
          <p:cNvPicPr>
            <a:picLocks noChangeAspect="1"/>
          </p:cNvPicPr>
          <p:nvPr/>
        </p:nvPicPr>
        <p:blipFill>
          <a:blip r:embed="rId2">
            <a:extLst>
              <a:ext uri="{28A0092B-C50C-407E-A947-70E740481C1C}">
                <a14:useLocalDpi xmlns:a14="http://schemas.microsoft.com/office/drawing/2010/main" val="0"/>
              </a:ext>
            </a:extLst>
          </a:blip>
          <a:srcRect l="30980" t="39067" r="15306" b="29200"/>
          <a:stretch>
            <a:fillRect/>
          </a:stretch>
        </p:blipFill>
        <p:spPr>
          <a:xfrm>
            <a:off x="7030237" y="151766"/>
            <a:ext cx="4500348" cy="3758184"/>
          </a:xfrm>
          <a:prstGeom prst="rect">
            <a:avLst/>
          </a:prstGeom>
          <a:ln>
            <a:solidFill>
              <a:schemeClr val="tx1"/>
            </a:solidFill>
          </a:ln>
        </p:spPr>
      </p:pic>
      <p:pic>
        <p:nvPicPr>
          <p:cNvPr id="5" name="תמונה 4">
            <a:extLst>
              <a:ext uri="{FF2B5EF4-FFF2-40B4-BE49-F238E27FC236}">
                <a16:creationId xmlns:a16="http://schemas.microsoft.com/office/drawing/2014/main" id="{CF104AD1-E1EC-658A-34E6-3E9F0683D9F1}"/>
              </a:ext>
            </a:extLst>
          </p:cNvPr>
          <p:cNvPicPr>
            <a:picLocks noChangeAspect="1"/>
          </p:cNvPicPr>
          <p:nvPr/>
        </p:nvPicPr>
        <p:blipFill>
          <a:blip r:embed="rId3">
            <a:extLst>
              <a:ext uri="{28A0092B-C50C-407E-A947-70E740481C1C}">
                <a14:useLocalDpi xmlns:a14="http://schemas.microsoft.com/office/drawing/2010/main" val="0"/>
              </a:ext>
            </a:extLst>
          </a:blip>
          <a:srcRect l="7488" t="54125" r="4433" b="7714"/>
          <a:stretch>
            <a:fillRect/>
          </a:stretch>
        </p:blipFill>
        <p:spPr>
          <a:xfrm rot="16200000">
            <a:off x="192915" y="1421891"/>
            <a:ext cx="6554467" cy="4014218"/>
          </a:xfrm>
          <a:prstGeom prst="rect">
            <a:avLst/>
          </a:prstGeom>
          <a:ln>
            <a:solidFill>
              <a:schemeClr val="tx1"/>
            </a:solidFill>
          </a:ln>
        </p:spPr>
      </p:pic>
      <p:pic>
        <p:nvPicPr>
          <p:cNvPr id="7" name="תמונה 6">
            <a:extLst>
              <a:ext uri="{FF2B5EF4-FFF2-40B4-BE49-F238E27FC236}">
                <a16:creationId xmlns:a16="http://schemas.microsoft.com/office/drawing/2014/main" id="{4DE9023C-A5E3-AF51-E526-560DE3065543}"/>
              </a:ext>
            </a:extLst>
          </p:cNvPr>
          <p:cNvPicPr>
            <a:picLocks noChangeAspect="1"/>
          </p:cNvPicPr>
          <p:nvPr/>
        </p:nvPicPr>
        <p:blipFill>
          <a:blip r:embed="rId4"/>
          <a:stretch>
            <a:fillRect/>
          </a:stretch>
        </p:blipFill>
        <p:spPr>
          <a:xfrm>
            <a:off x="5742431" y="4484319"/>
            <a:ext cx="6275185" cy="639295"/>
          </a:xfrm>
          <a:prstGeom prst="rect">
            <a:avLst/>
          </a:prstGeom>
          <a:ln>
            <a:solidFill>
              <a:schemeClr val="tx1"/>
            </a:solidFill>
          </a:ln>
        </p:spPr>
      </p:pic>
      <p:sp>
        <p:nvSpPr>
          <p:cNvPr id="8" name="תיבת טקסט 7">
            <a:extLst>
              <a:ext uri="{FF2B5EF4-FFF2-40B4-BE49-F238E27FC236}">
                <a16:creationId xmlns:a16="http://schemas.microsoft.com/office/drawing/2014/main" id="{324724BE-F6D2-4EB2-D76F-9259E798775B}"/>
              </a:ext>
            </a:extLst>
          </p:cNvPr>
          <p:cNvSpPr txBox="1"/>
          <p:nvPr/>
        </p:nvSpPr>
        <p:spPr>
          <a:xfrm>
            <a:off x="5952744" y="4901184"/>
            <a:ext cx="1682496" cy="222430"/>
          </a:xfrm>
          <a:prstGeom prst="rect">
            <a:avLst/>
          </a:prstGeom>
          <a:solidFill>
            <a:schemeClr val="bg1"/>
          </a:solidFill>
        </p:spPr>
        <p:txBody>
          <a:bodyPr wrap="square" rtlCol="1">
            <a:spAutoFit/>
          </a:bodyPr>
          <a:lstStyle/>
          <a:p>
            <a:endParaRPr lang="he-IL" dirty="0"/>
          </a:p>
        </p:txBody>
      </p:sp>
    </p:spTree>
    <p:extLst>
      <p:ext uri="{BB962C8B-B14F-4D97-AF65-F5344CB8AC3E}">
        <p14:creationId xmlns:p14="http://schemas.microsoft.com/office/powerpoint/2010/main" val="40208537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E3FD44E0-8ADF-7690-68C7-4AF4A1E23463}"/>
              </a:ext>
            </a:extLst>
          </p:cNvPr>
          <p:cNvPicPr>
            <a:picLocks noChangeAspect="1"/>
          </p:cNvPicPr>
          <p:nvPr/>
        </p:nvPicPr>
        <p:blipFill>
          <a:blip r:embed="rId2">
            <a:extLst>
              <a:ext uri="{28A0092B-C50C-407E-A947-70E740481C1C}">
                <a14:useLocalDpi xmlns:a14="http://schemas.microsoft.com/office/drawing/2010/main" val="0"/>
              </a:ext>
            </a:extLst>
          </a:blip>
          <a:srcRect l="69930" t="9653" r="4784" b="52186"/>
          <a:stretch>
            <a:fillRect/>
          </a:stretch>
        </p:blipFill>
        <p:spPr>
          <a:xfrm rot="16200000">
            <a:off x="8050077" y="-1085813"/>
            <a:ext cx="2157769" cy="4603238"/>
          </a:xfrm>
          <a:prstGeom prst="rect">
            <a:avLst/>
          </a:prstGeom>
          <a:ln>
            <a:solidFill>
              <a:schemeClr val="tx1"/>
            </a:solidFill>
          </a:ln>
        </p:spPr>
      </p:pic>
      <p:sp>
        <p:nvSpPr>
          <p:cNvPr id="8" name="תיבת טקסט 1">
            <a:extLst>
              <a:ext uri="{FF2B5EF4-FFF2-40B4-BE49-F238E27FC236}">
                <a16:creationId xmlns:a16="http://schemas.microsoft.com/office/drawing/2014/main" id="{E0BFF81D-80BC-C0A8-6BC5-9BF062F33434}"/>
              </a:ext>
            </a:extLst>
          </p:cNvPr>
          <p:cNvSpPr txBox="1"/>
          <p:nvPr/>
        </p:nvSpPr>
        <p:spPr>
          <a:xfrm>
            <a:off x="6665976" y="2364831"/>
            <a:ext cx="3680460" cy="390525"/>
          </a:xfrm>
          <a:prstGeom prst="rect">
            <a:avLst/>
          </a:prstGeom>
          <a:solidFill>
            <a:sysClr val="window" lastClr="FFFFFF"/>
          </a:solidFill>
          <a:ln w="6350">
            <a:noFill/>
          </a:ln>
        </p:spPr>
        <p:txBody>
          <a:bodyPr rot="0" spcFirstLastPara="0" vert="horz" wrap="none" lIns="91440" tIns="45720" rIns="91440" bIns="45720" numCol="1" spcCol="0" rtlCol="1" fromWordArt="0" anchor="t" anchorCtr="0" forceAA="0" compatLnSpc="1">
            <a:prstTxWarp prst="textNoShape">
              <a:avLst/>
            </a:prstTxWarp>
            <a:noAutofit/>
          </a:bodyPr>
          <a:lstStyle/>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חגי הוברמן, חנן פורת: סיפור חייו, עמ’ </a:t>
            </a:r>
            <a:r>
              <a:rPr lang="en-US" sz="1400" b="1" kern="100" dirty="0">
                <a:effectLst/>
                <a:latin typeface="Arial" panose="020B0604020202020204" pitchFamily="34" charset="0"/>
                <a:ea typeface="Aptos" panose="020B0004020202020204" pitchFamily="34" charset="0"/>
                <a:cs typeface="Arial" panose="020B0604020202020204" pitchFamily="34" charset="0"/>
              </a:rPr>
              <a:t>225-227</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en-US" sz="1200" kern="100" dirty="0">
                <a:effectLst/>
                <a:latin typeface="Aptos" panose="020B0004020202020204" pitchFamily="34" charset="0"/>
                <a:ea typeface="Aptos" panose="020B0004020202020204" pitchFamily="34" charset="0"/>
                <a:cs typeface="Arial" panose="020B0604020202020204" pitchFamily="34" charset="0"/>
              </a:rPr>
              <a:t> </a:t>
            </a:r>
          </a:p>
        </p:txBody>
      </p:sp>
      <p:pic>
        <p:nvPicPr>
          <p:cNvPr id="10" name="תמונה 9">
            <a:extLst>
              <a:ext uri="{FF2B5EF4-FFF2-40B4-BE49-F238E27FC236}">
                <a16:creationId xmlns:a16="http://schemas.microsoft.com/office/drawing/2014/main" id="{ED8917A2-D179-861F-9D85-A3FEA04EC27C}"/>
              </a:ext>
            </a:extLst>
          </p:cNvPr>
          <p:cNvPicPr>
            <a:picLocks noChangeAspect="1"/>
          </p:cNvPicPr>
          <p:nvPr/>
        </p:nvPicPr>
        <p:blipFill>
          <a:blip r:embed="rId3"/>
          <a:stretch>
            <a:fillRect/>
          </a:stretch>
        </p:blipFill>
        <p:spPr>
          <a:xfrm>
            <a:off x="1020897" y="155209"/>
            <a:ext cx="4170025" cy="2761727"/>
          </a:xfrm>
          <a:prstGeom prst="rect">
            <a:avLst/>
          </a:prstGeom>
        </p:spPr>
      </p:pic>
      <p:sp>
        <p:nvSpPr>
          <p:cNvPr id="12" name="תיבת טקסט 11">
            <a:extLst>
              <a:ext uri="{FF2B5EF4-FFF2-40B4-BE49-F238E27FC236}">
                <a16:creationId xmlns:a16="http://schemas.microsoft.com/office/drawing/2014/main" id="{7FF0F7C5-93F1-F094-C58B-F97230A367B0}"/>
              </a:ext>
            </a:extLst>
          </p:cNvPr>
          <p:cNvSpPr txBox="1"/>
          <p:nvPr/>
        </p:nvSpPr>
        <p:spPr>
          <a:xfrm>
            <a:off x="518501" y="3021586"/>
            <a:ext cx="5174815" cy="523220"/>
          </a:xfrm>
          <a:prstGeom prst="rect">
            <a:avLst/>
          </a:prstGeom>
          <a:noFill/>
        </p:spPr>
        <p:txBody>
          <a:bodyPr wrap="none" rtlCol="1">
            <a:spAutoFit/>
          </a:bodyPr>
          <a:lstStyle/>
          <a:p>
            <a:r>
              <a:rPr lang="he-IL" sz="1400" b="1" dirty="0"/>
              <a:t>חנן פורת (מימין) עם חברי וועדת </a:t>
            </a:r>
            <a:r>
              <a:rPr lang="he-IL" sz="1400" b="1" dirty="0" err="1"/>
              <a:t>העליה</a:t>
            </a:r>
            <a:r>
              <a:rPr lang="he-IL" sz="1400" b="1" dirty="0"/>
              <a:t> והקליטה של הכנסת, מבקרים </a:t>
            </a:r>
          </a:p>
          <a:p>
            <a:r>
              <a:rPr lang="he-IL" sz="1400" b="1" dirty="0"/>
              <a:t> באתר הקליטה של העולים מאתיופיה בגבעת המטוס בירושלים.</a:t>
            </a:r>
          </a:p>
        </p:txBody>
      </p:sp>
      <p:pic>
        <p:nvPicPr>
          <p:cNvPr id="14" name="תמונה 13">
            <a:extLst>
              <a:ext uri="{FF2B5EF4-FFF2-40B4-BE49-F238E27FC236}">
                <a16:creationId xmlns:a16="http://schemas.microsoft.com/office/drawing/2014/main" id="{E7A29F3C-0C17-1920-3AD0-C9558FA27170}"/>
              </a:ext>
            </a:extLst>
          </p:cNvPr>
          <p:cNvPicPr>
            <a:picLocks noChangeAspect="1"/>
          </p:cNvPicPr>
          <p:nvPr/>
        </p:nvPicPr>
        <p:blipFill>
          <a:blip r:embed="rId4"/>
          <a:srcRect t="78880" b="3318"/>
          <a:stretch>
            <a:fillRect/>
          </a:stretch>
        </p:blipFill>
        <p:spPr>
          <a:xfrm>
            <a:off x="1997644" y="4334256"/>
            <a:ext cx="8196711" cy="1472184"/>
          </a:xfrm>
          <a:prstGeom prst="rect">
            <a:avLst/>
          </a:prstGeom>
          <a:ln>
            <a:solidFill>
              <a:schemeClr val="tx1"/>
            </a:solidFill>
          </a:ln>
        </p:spPr>
      </p:pic>
      <p:sp>
        <p:nvSpPr>
          <p:cNvPr id="15" name="תיבת טקסט 14">
            <a:extLst>
              <a:ext uri="{FF2B5EF4-FFF2-40B4-BE49-F238E27FC236}">
                <a16:creationId xmlns:a16="http://schemas.microsoft.com/office/drawing/2014/main" id="{1F9E0FED-1113-8906-A12A-5386E6F71BC0}"/>
              </a:ext>
            </a:extLst>
          </p:cNvPr>
          <p:cNvSpPr txBox="1"/>
          <p:nvPr/>
        </p:nvSpPr>
        <p:spPr>
          <a:xfrm>
            <a:off x="7397496" y="4974336"/>
            <a:ext cx="1179576" cy="369332"/>
          </a:xfrm>
          <a:prstGeom prst="rect">
            <a:avLst/>
          </a:prstGeom>
          <a:solidFill>
            <a:schemeClr val="bg1"/>
          </a:solidFill>
        </p:spPr>
        <p:txBody>
          <a:bodyPr wrap="square" rtlCol="1">
            <a:spAutoFit/>
          </a:bodyPr>
          <a:lstStyle/>
          <a:p>
            <a:endParaRPr lang="he-IL" dirty="0"/>
          </a:p>
        </p:txBody>
      </p:sp>
      <p:sp>
        <p:nvSpPr>
          <p:cNvPr id="17" name="תיבת טקסט 16">
            <a:extLst>
              <a:ext uri="{FF2B5EF4-FFF2-40B4-BE49-F238E27FC236}">
                <a16:creationId xmlns:a16="http://schemas.microsoft.com/office/drawing/2014/main" id="{FCEAC4D6-FEEE-3EAE-53B6-619790241A0F}"/>
              </a:ext>
            </a:extLst>
          </p:cNvPr>
          <p:cNvSpPr txBox="1"/>
          <p:nvPr/>
        </p:nvSpPr>
        <p:spPr>
          <a:xfrm>
            <a:off x="1997644" y="5510260"/>
            <a:ext cx="4933508" cy="296180"/>
          </a:xfrm>
          <a:prstGeom prst="rect">
            <a:avLst/>
          </a:prstGeom>
          <a:solidFill>
            <a:schemeClr val="bg1"/>
          </a:solidFill>
        </p:spPr>
        <p:txBody>
          <a:bodyPr wrap="square" rtlCol="1">
            <a:spAutoFit/>
          </a:bodyPr>
          <a:lstStyle/>
          <a:p>
            <a:endParaRPr lang="he-IL" dirty="0"/>
          </a:p>
        </p:txBody>
      </p:sp>
    </p:spTree>
    <p:extLst>
      <p:ext uri="{BB962C8B-B14F-4D97-AF65-F5344CB8AC3E}">
        <p14:creationId xmlns:p14="http://schemas.microsoft.com/office/powerpoint/2010/main" val="1107148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1" name="Rectangle 5">
            <a:extLst>
              <a:ext uri="{FF2B5EF4-FFF2-40B4-BE49-F238E27FC236}">
                <a16:creationId xmlns:a16="http://schemas.microsoft.com/office/drawing/2014/main" id="{0A653B8C-0B62-0685-D29E-C9FAA93E9229}"/>
              </a:ext>
            </a:extLst>
          </p:cNvPr>
          <p:cNvSpPr>
            <a:spLocks noChangeArrowheads="1"/>
          </p:cNvSpPr>
          <p:nvPr/>
        </p:nvSpPr>
        <p:spPr bwMode="auto">
          <a:xfrm>
            <a:off x="1289304" y="220574"/>
            <a:ext cx="9127871" cy="1200329"/>
          </a:xfrm>
          <a:prstGeom prst="rect">
            <a:avLst/>
          </a:prstGeom>
          <a:solidFill>
            <a:srgbClr val="0000FF"/>
          </a:solidFill>
          <a:ln>
            <a:noFill/>
          </a:ln>
        </p:spPr>
        <p:txBody>
          <a:bodyPr wrap="square" anchor="ctr">
            <a:spAutoFit/>
          </a:bodyPr>
          <a:lstStyle/>
          <a:p>
            <a:pPr algn="ctr">
              <a:defRPr/>
            </a:pPr>
            <a:r>
              <a:rPr lang="he-IL" sz="33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a:t>
            </a:r>
            <a:r>
              <a:rPr lang="he-IL" sz="3600" b="1" dirty="0">
                <a:solidFill>
                  <a:srgbClr val="FFFF00"/>
                </a:solidFill>
                <a:latin typeface="David" panose="020E0502060401010101" pitchFamily="34" charset="-79"/>
                <a:cs typeface="David" panose="020E0502060401010101" pitchFamily="34" charset="-79"/>
              </a:rPr>
              <a:t>וְלָקַחְתִּי אֶתְכֶם מִן </a:t>
            </a:r>
            <a:r>
              <a:rPr lang="he-IL" sz="3600" b="1" dirty="0" err="1">
                <a:solidFill>
                  <a:srgbClr val="FFFF00"/>
                </a:solidFill>
                <a:latin typeface="David" panose="020E0502060401010101" pitchFamily="34" charset="-79"/>
                <a:cs typeface="David" panose="020E0502060401010101" pitchFamily="34" charset="-79"/>
              </a:rPr>
              <a:t>הַגּוֹיִם</a:t>
            </a:r>
            <a:r>
              <a:rPr lang="he-IL" sz="3600" b="1" dirty="0">
                <a:solidFill>
                  <a:srgbClr val="FFFF00"/>
                </a:solidFill>
                <a:latin typeface="David" panose="020E0502060401010101" pitchFamily="34" charset="-79"/>
                <a:cs typeface="David" panose="020E0502060401010101" pitchFamily="34" charset="-79"/>
              </a:rPr>
              <a:t> וְקִבַּצְתִּי אֶתְכֶם </a:t>
            </a:r>
            <a:r>
              <a:rPr lang="he-IL" sz="3600" b="1" dirty="0" err="1">
                <a:solidFill>
                  <a:srgbClr val="FFFF00"/>
                </a:solidFill>
                <a:latin typeface="David" panose="020E0502060401010101" pitchFamily="34" charset="-79"/>
                <a:cs typeface="David" panose="020E0502060401010101" pitchFamily="34" charset="-79"/>
              </a:rPr>
              <a:t>מִכׇּל</a:t>
            </a:r>
            <a:r>
              <a:rPr lang="he-IL" sz="3600" b="1" dirty="0">
                <a:solidFill>
                  <a:srgbClr val="FFFF00"/>
                </a:solidFill>
                <a:latin typeface="David" panose="020E0502060401010101" pitchFamily="34" charset="-79"/>
                <a:cs typeface="David" panose="020E0502060401010101" pitchFamily="34" charset="-79"/>
              </a:rPr>
              <a:t> הָאֲרָצוֹת וְהֵבֵאתִי אֶתְכֶם אֶל אַדְמַתְכֶם</a:t>
            </a:r>
            <a:r>
              <a:rPr lang="he-IL" sz="33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                   </a:t>
            </a:r>
            <a:r>
              <a:rPr lang="he-IL" sz="24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(יחזקאל ל"ו, כ"ד)</a:t>
            </a:r>
            <a:endParaRPr lang="he-IL" sz="33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endParaRPr>
          </a:p>
        </p:txBody>
      </p:sp>
      <p:sp>
        <p:nvSpPr>
          <p:cNvPr id="80902" name="Rectangle 6">
            <a:extLst>
              <a:ext uri="{FF2B5EF4-FFF2-40B4-BE49-F238E27FC236}">
                <a16:creationId xmlns:a16="http://schemas.microsoft.com/office/drawing/2014/main" id="{44867ED2-4633-2C5B-B1FA-BF8DA8859F93}"/>
              </a:ext>
            </a:extLst>
          </p:cNvPr>
          <p:cNvSpPr>
            <a:spLocks noChangeArrowheads="1"/>
          </p:cNvSpPr>
          <p:nvPr/>
        </p:nvSpPr>
        <p:spPr bwMode="auto">
          <a:xfrm>
            <a:off x="2260600" y="5347779"/>
            <a:ext cx="7670800" cy="1323975"/>
          </a:xfrm>
          <a:prstGeom prst="rect">
            <a:avLst/>
          </a:prstGeom>
          <a:solidFill>
            <a:srgbClr val="0000FF"/>
          </a:solidFill>
          <a:ln>
            <a:noFill/>
          </a:ln>
        </p:spPr>
        <p:txBody>
          <a:bodyPr anchor="ctr">
            <a:spAutoFit/>
          </a:bodyPr>
          <a:lstStyle/>
          <a:p>
            <a:pPr algn="ctr">
              <a:defRPr/>
            </a:pPr>
            <a:r>
              <a:rPr lang="he-IL" sz="40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"בנה ביתך כבתחילה וכונן מקדשך על מכונו, והראנו בבנינו ושמחנו </a:t>
            </a:r>
            <a:r>
              <a:rPr lang="he-IL" sz="4000" b="1" dirty="0" err="1">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בתקונו</a:t>
            </a:r>
            <a:r>
              <a:rPr lang="he-IL" sz="40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 </a:t>
            </a:r>
          </a:p>
        </p:txBody>
      </p:sp>
      <p:pic>
        <p:nvPicPr>
          <p:cNvPr id="153604" name="Picture 5" descr="degelisrael">
            <a:extLst>
              <a:ext uri="{FF2B5EF4-FFF2-40B4-BE49-F238E27FC236}">
                <a16:creationId xmlns:a16="http://schemas.microsoft.com/office/drawing/2014/main" id="{72A1639B-829C-C958-9162-0035ED14D29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075945" y="2666492"/>
            <a:ext cx="8604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05" name="Picture 6" descr="degelisrael">
            <a:extLst>
              <a:ext uri="{FF2B5EF4-FFF2-40B4-BE49-F238E27FC236}">
                <a16:creationId xmlns:a16="http://schemas.microsoft.com/office/drawing/2014/main" id="{963329ED-B3BD-BC06-F376-7931DF199FFD}"/>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0417175" y="2664905"/>
            <a:ext cx="887412"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5" name="Picture 7" descr="jerusalem_temple_model">
            <a:extLst>
              <a:ext uri="{FF2B5EF4-FFF2-40B4-BE49-F238E27FC236}">
                <a16:creationId xmlns:a16="http://schemas.microsoft.com/office/drawing/2014/main" id="{44EFF906-9633-F509-B8DF-3F7A36C30E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6537" y="1907953"/>
            <a:ext cx="6856413" cy="2921000"/>
          </a:xfrm>
          <a:prstGeom prst="rect">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pic>
      <p:sp>
        <p:nvSpPr>
          <p:cNvPr id="83978" name="Text Box 10">
            <a:extLst>
              <a:ext uri="{FF2B5EF4-FFF2-40B4-BE49-F238E27FC236}">
                <a16:creationId xmlns:a16="http://schemas.microsoft.com/office/drawing/2014/main" id="{299AC3FD-42AF-DA5D-8E09-8F095EEEC2BB}"/>
              </a:ext>
            </a:extLst>
          </p:cNvPr>
          <p:cNvSpPr txBox="1">
            <a:spLocks noChangeArrowheads="1"/>
          </p:cNvSpPr>
          <p:nvPr/>
        </p:nvSpPr>
        <p:spPr bwMode="auto">
          <a:xfrm>
            <a:off x="9256714" y="1500189"/>
            <a:ext cx="255587" cy="403225"/>
          </a:xfrm>
          <a:prstGeom prst="rect">
            <a:avLst/>
          </a:prstGeom>
          <a:noFill/>
          <a:ln>
            <a:noFill/>
          </a:ln>
          <a:effectLst/>
        </p:spPr>
        <p:txBody>
          <a:bodyPr wrap="none">
            <a:spAutoFit/>
          </a:bodyPr>
          <a:lstStyle/>
          <a:p>
            <a:pPr>
              <a:defRPr/>
            </a:pPr>
            <a:r>
              <a:rPr lang="he-IL" sz="2025" b="1" dirty="0">
                <a:solidFill>
                  <a:schemeClr val="bg1"/>
                </a:solidFill>
                <a:effectLst>
                  <a:outerShdw blurRad="38100" dist="38100" dir="2700000" algn="tl">
                    <a:srgbClr val="C0C0C0"/>
                  </a:outerShdw>
                </a:effectLst>
              </a:rPr>
              <a:t> </a:t>
            </a:r>
            <a:endParaRPr lang="en-US" sz="2025" dirty="0">
              <a:solidFill>
                <a:schemeClr val="bg1"/>
              </a:solidFill>
            </a:endParaRPr>
          </a:p>
        </p:txBody>
      </p:sp>
      <p:sp>
        <p:nvSpPr>
          <p:cNvPr id="11" name="TextBox 10">
            <a:extLst>
              <a:ext uri="{FF2B5EF4-FFF2-40B4-BE49-F238E27FC236}">
                <a16:creationId xmlns:a16="http://schemas.microsoft.com/office/drawing/2014/main" id="{6B6C20AB-5CC6-8383-010B-183B75E5DE40}"/>
              </a:ext>
            </a:extLst>
          </p:cNvPr>
          <p:cNvSpPr txBox="1">
            <a:spLocks noChangeArrowheads="1"/>
          </p:cNvSpPr>
          <p:nvPr/>
        </p:nvSpPr>
        <p:spPr bwMode="auto">
          <a:xfrm>
            <a:off x="4943475" y="3949701"/>
            <a:ext cx="1993900" cy="739775"/>
          </a:xfrm>
          <a:prstGeom prst="rect">
            <a:avLst/>
          </a:prstGeom>
          <a:solidFill>
            <a:srgbClr val="FF0000"/>
          </a:solidFill>
          <a:ln w="28575">
            <a:solidFill>
              <a:schemeClr val="tx1"/>
            </a:solidFill>
            <a:miter lim="800000"/>
            <a:headEnd/>
            <a:tailEnd/>
          </a:ln>
        </p:spPr>
        <p:txBody>
          <a:bodyPr>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FontTx/>
              <a:buNone/>
            </a:pPr>
            <a:r>
              <a:rPr lang="he-IL" altLang="he-IL" sz="2100" b="1">
                <a:solidFill>
                  <a:srgbClr val="FFFF00"/>
                </a:solidFill>
                <a:latin typeface="David" panose="020E0502060401010101" pitchFamily="34" charset="-79"/>
                <a:cs typeface="David" panose="020E0502060401010101" pitchFamily="34" charset="-79"/>
              </a:rPr>
              <a:t>בהצלחה</a:t>
            </a:r>
          </a:p>
          <a:p>
            <a:pPr algn="ctr" rtl="0">
              <a:spcBef>
                <a:spcPct val="0"/>
              </a:spcBef>
              <a:buFontTx/>
              <a:buNone/>
            </a:pPr>
            <a:r>
              <a:rPr lang="he-IL" altLang="he-IL" sz="2100" b="1">
                <a:solidFill>
                  <a:srgbClr val="FFFF00"/>
                </a:solidFill>
                <a:latin typeface="David" panose="020E0502060401010101" pitchFamily="34" charset="-79"/>
                <a:cs typeface="David" panose="020E0502060401010101" pitchFamily="34" charset="-79"/>
              </a:rPr>
              <a:t>בשורות טובות!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83978">
                                            <p:txEl>
                                              <p:pRg st="0" end="0"/>
                                            </p:txEl>
                                          </p:spTgt>
                                        </p:tgtEl>
                                        <p:attrNameLst>
                                          <p:attrName>style.visibility</p:attrName>
                                        </p:attrNameLst>
                                      </p:cBhvr>
                                      <p:to>
                                        <p:strVal val="visible"/>
                                      </p:to>
                                    </p:set>
                                    <p:animEffect transition="in" filter="fade">
                                      <p:cBhvr>
                                        <p:cTn id="7" dur="5000"/>
                                        <p:tgtEl>
                                          <p:spTgt spid="83978">
                                            <p:txEl>
                                              <p:pRg st="0" end="0"/>
                                            </p:txEl>
                                          </p:spTgt>
                                        </p:tgtEl>
                                      </p:cBhvr>
                                    </p:animEffect>
                                    <p:anim calcmode="lin" valueType="num">
                                      <p:cBhvr>
                                        <p:cTn id="8" dur="5000" fill="hold"/>
                                        <p:tgtEl>
                                          <p:spTgt spid="83978">
                                            <p:txEl>
                                              <p:pRg st="0" end="0"/>
                                            </p:txEl>
                                          </p:spTgt>
                                        </p:tgtEl>
                                        <p:attrNameLst>
                                          <p:attrName>ppt_x</p:attrName>
                                        </p:attrNameLst>
                                      </p:cBhvr>
                                      <p:tavLst>
                                        <p:tav tm="0">
                                          <p:val>
                                            <p:strVal val="#ppt_x"/>
                                          </p:val>
                                        </p:tav>
                                        <p:tav tm="100000">
                                          <p:val>
                                            <p:strVal val="#ppt_x"/>
                                          </p:val>
                                        </p:tav>
                                      </p:tavLst>
                                    </p:anim>
                                    <p:anim calcmode="lin" valueType="num">
                                      <p:cBhvr>
                                        <p:cTn id="9" dur="5000" fill="hold"/>
                                        <p:tgtEl>
                                          <p:spTgt spid="8397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7" presetClass="entr" presetSubtype="4" fill="hold" nodeType="clickEffect">
                                  <p:stCondLst>
                                    <p:cond delay="0"/>
                                  </p:stCondLst>
                                  <p:childTnLst>
                                    <p:set>
                                      <p:cBhvr>
                                        <p:cTn id="13" dur="1" fill="hold">
                                          <p:stCondLst>
                                            <p:cond delay="0"/>
                                          </p:stCondLst>
                                        </p:cTn>
                                        <p:tgtEl>
                                          <p:spTgt spid="80901">
                                            <p:txEl>
                                              <p:pRg st="0" end="0"/>
                                            </p:txEl>
                                          </p:spTgt>
                                        </p:tgtEl>
                                        <p:attrNameLst>
                                          <p:attrName>style.visibility</p:attrName>
                                        </p:attrNameLst>
                                      </p:cBhvr>
                                      <p:to>
                                        <p:strVal val="visible"/>
                                      </p:to>
                                    </p:set>
                                    <p:anim calcmode="lin" valueType="num">
                                      <p:cBhvr additive="base">
                                        <p:cTn id="14" dur="5000" fill="hold"/>
                                        <p:tgtEl>
                                          <p:spTgt spid="80901">
                                            <p:txEl>
                                              <p:pRg st="0" end="0"/>
                                            </p:txEl>
                                          </p:spTgt>
                                        </p:tgtEl>
                                        <p:attrNameLst>
                                          <p:attrName>ppt_x</p:attrName>
                                        </p:attrNameLst>
                                      </p:cBhvr>
                                      <p:tavLst>
                                        <p:tav tm="0">
                                          <p:val>
                                            <p:strVal val="#ppt_x"/>
                                          </p:val>
                                        </p:tav>
                                        <p:tav tm="100000">
                                          <p:val>
                                            <p:strVal val="#ppt_x"/>
                                          </p:val>
                                        </p:tav>
                                      </p:tavLst>
                                    </p:anim>
                                    <p:anim calcmode="lin" valueType="num">
                                      <p:cBhvr additive="base">
                                        <p:cTn id="15" dur="5000" fill="hold"/>
                                        <p:tgtEl>
                                          <p:spTgt spid="809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nodeType="clickEffect">
                                  <p:stCondLst>
                                    <p:cond delay="0"/>
                                  </p:stCondLst>
                                  <p:childTnLst>
                                    <p:set>
                                      <p:cBhvr>
                                        <p:cTn id="19" dur="1" fill="hold">
                                          <p:stCondLst>
                                            <p:cond delay="0"/>
                                          </p:stCondLst>
                                        </p:cTn>
                                        <p:tgtEl>
                                          <p:spTgt spid="83975"/>
                                        </p:tgtEl>
                                        <p:attrNameLst>
                                          <p:attrName>style.visibility</p:attrName>
                                        </p:attrNameLst>
                                      </p:cBhvr>
                                      <p:to>
                                        <p:strVal val="visible"/>
                                      </p:to>
                                    </p:set>
                                    <p:anim calcmode="lin" valueType="num">
                                      <p:cBhvr>
                                        <p:cTn id="20" dur="5000" fill="hold"/>
                                        <p:tgtEl>
                                          <p:spTgt spid="83975"/>
                                        </p:tgtEl>
                                        <p:attrNameLst>
                                          <p:attrName>ppt_w</p:attrName>
                                        </p:attrNameLst>
                                      </p:cBhvr>
                                      <p:tavLst>
                                        <p:tav tm="0">
                                          <p:val>
                                            <p:fltVal val="0"/>
                                          </p:val>
                                        </p:tav>
                                        <p:tav tm="100000">
                                          <p:val>
                                            <p:strVal val="#ppt_w"/>
                                          </p:val>
                                        </p:tav>
                                      </p:tavLst>
                                    </p:anim>
                                    <p:anim calcmode="lin" valueType="num">
                                      <p:cBhvr>
                                        <p:cTn id="21" dur="5000" fill="hold"/>
                                        <p:tgtEl>
                                          <p:spTgt spid="83975"/>
                                        </p:tgtEl>
                                        <p:attrNameLst>
                                          <p:attrName>ppt_h</p:attrName>
                                        </p:attrNameLst>
                                      </p:cBhvr>
                                      <p:tavLst>
                                        <p:tav tm="0">
                                          <p:val>
                                            <p:fltVal val="0"/>
                                          </p:val>
                                        </p:tav>
                                        <p:tav tm="100000">
                                          <p:val>
                                            <p:strVal val="#ppt_h"/>
                                          </p:val>
                                        </p:tav>
                                      </p:tavLst>
                                    </p:anim>
                                    <p:animEffect transition="in" filter="fade">
                                      <p:cBhvr>
                                        <p:cTn id="22" dur="5000"/>
                                        <p:tgtEl>
                                          <p:spTgt spid="83975"/>
                                        </p:tgtEl>
                                      </p:cBhvr>
                                    </p:animEffect>
                                  </p:childTnLst>
                                </p:cTn>
                              </p:par>
                              <p:par>
                                <p:cTn id="23" presetID="15" presetClass="entr" presetSubtype="0" fill="hold" nodeType="withEffect">
                                  <p:stCondLst>
                                    <p:cond delay="0"/>
                                  </p:stCondLst>
                                  <p:childTnLst>
                                    <p:set>
                                      <p:cBhvr>
                                        <p:cTn id="24" dur="1" fill="hold">
                                          <p:stCondLst>
                                            <p:cond delay="0"/>
                                          </p:stCondLst>
                                        </p:cTn>
                                        <p:tgtEl>
                                          <p:spTgt spid="80902"/>
                                        </p:tgtEl>
                                        <p:attrNameLst>
                                          <p:attrName>style.visibility</p:attrName>
                                        </p:attrNameLst>
                                      </p:cBhvr>
                                      <p:to>
                                        <p:strVal val="visible"/>
                                      </p:to>
                                    </p:set>
                                    <p:anim calcmode="lin" valueType="num">
                                      <p:cBhvr>
                                        <p:cTn id="25" dur="5000" fill="hold"/>
                                        <p:tgtEl>
                                          <p:spTgt spid="80902"/>
                                        </p:tgtEl>
                                        <p:attrNameLst>
                                          <p:attrName>ppt_w</p:attrName>
                                        </p:attrNameLst>
                                      </p:cBhvr>
                                      <p:tavLst>
                                        <p:tav tm="0">
                                          <p:val>
                                            <p:fltVal val="0"/>
                                          </p:val>
                                        </p:tav>
                                        <p:tav tm="100000">
                                          <p:val>
                                            <p:strVal val="#ppt_w"/>
                                          </p:val>
                                        </p:tav>
                                      </p:tavLst>
                                    </p:anim>
                                    <p:anim calcmode="lin" valueType="num">
                                      <p:cBhvr>
                                        <p:cTn id="26" dur="5000" fill="hold"/>
                                        <p:tgtEl>
                                          <p:spTgt spid="80902"/>
                                        </p:tgtEl>
                                        <p:attrNameLst>
                                          <p:attrName>ppt_h</p:attrName>
                                        </p:attrNameLst>
                                      </p:cBhvr>
                                      <p:tavLst>
                                        <p:tav tm="0">
                                          <p:val>
                                            <p:fltVal val="0"/>
                                          </p:val>
                                        </p:tav>
                                        <p:tav tm="100000">
                                          <p:val>
                                            <p:strVal val="#ppt_h"/>
                                          </p:val>
                                        </p:tav>
                                      </p:tavLst>
                                    </p:anim>
                                    <p:anim calcmode="lin" valueType="num">
                                      <p:cBhvr>
                                        <p:cTn id="27" dur="5000" fill="hold"/>
                                        <p:tgtEl>
                                          <p:spTgt spid="80902"/>
                                        </p:tgtEl>
                                        <p:attrNameLst>
                                          <p:attrName>ppt_x</p:attrName>
                                        </p:attrNameLst>
                                      </p:cBhvr>
                                      <p:tavLst>
                                        <p:tav tm="0" fmla="#ppt_x+(cos(-2*pi*(1-$))*-#ppt_x-sin(-2*pi*(1-$))*(1-#ppt_y))*(1-$)">
                                          <p:val>
                                            <p:fltVal val="0"/>
                                          </p:val>
                                        </p:tav>
                                        <p:tav tm="100000">
                                          <p:val>
                                            <p:fltVal val="1"/>
                                          </p:val>
                                        </p:tav>
                                      </p:tavLst>
                                    </p:anim>
                                    <p:anim calcmode="lin" valueType="num">
                                      <p:cBhvr>
                                        <p:cTn id="28" dur="5000" fill="hold"/>
                                        <p:tgtEl>
                                          <p:spTgt spid="8090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0" fill="hold"/>
                                        <p:tgtEl>
                                          <p:spTgt spid="11"/>
                                        </p:tgtEl>
                                        <p:attrNameLst>
                                          <p:attrName>ppt_w</p:attrName>
                                        </p:attrNameLst>
                                      </p:cBhvr>
                                      <p:tavLst>
                                        <p:tav tm="0">
                                          <p:val>
                                            <p:fltVal val="0"/>
                                          </p:val>
                                        </p:tav>
                                        <p:tav tm="100000">
                                          <p:val>
                                            <p:strVal val="#ppt_w"/>
                                          </p:val>
                                        </p:tav>
                                      </p:tavLst>
                                    </p:anim>
                                    <p:anim calcmode="lin" valueType="num">
                                      <p:cBhvr>
                                        <p:cTn id="34" dur="50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2" grpId="0" animBg="1"/>
      <p:bldP spid="11" grpId="0" animBg="1"/>
    </p:bld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5857</TotalTime>
  <Words>1002</Words>
  <Application>Microsoft Office PowerPoint</Application>
  <PresentationFormat>מסך רחב</PresentationFormat>
  <Paragraphs>77</Paragraphs>
  <Slides>43</Slides>
  <Notes>2</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43</vt:i4>
      </vt:variant>
    </vt:vector>
  </HeadingPairs>
  <TitlesOfParts>
    <vt:vector size="49" baseType="lpstr">
      <vt:lpstr>Aptos</vt:lpstr>
      <vt:lpstr>Aptos Display</vt:lpstr>
      <vt:lpstr>Arial</vt:lpstr>
      <vt:lpstr>Calibri</vt:lpstr>
      <vt:lpstr>David</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שמואל כץ</dc:creator>
  <cp:lastModifiedBy>שמואל כץ</cp:lastModifiedBy>
  <cp:revision>36</cp:revision>
  <dcterms:created xsi:type="dcterms:W3CDTF">2026-10-05T09:08:47Z</dcterms:created>
  <dcterms:modified xsi:type="dcterms:W3CDTF">2026-10-19T07:04:14Z</dcterms:modified>
</cp:coreProperties>
</file>